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17"/>
    <p:sldId id="2147470505" r:id="rId18"/>
    <p:sldId id="2147470506" r:id="rId19"/>
    <p:sldId id="2147470507" r:id="rId20"/>
    <p:sldId id="2147470508" r:id="rId21"/>
    <p:sldId id="2147470494" r:id="rId6"/>
    <p:sldId id="2147470501" r:id="rId7"/>
    <p:sldId id="2147470498" r:id="rId8"/>
    <p:sldId id="2147470497" r:id="rId9"/>
    <p:sldId id="2147470509" r:id="rId22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4.xml"/><Relationship Id="rId2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33A12"/>
            </a:solidFill>
          </c:spPr>
          <c:cat>
            <c:strRef>
              <c:f>Sheet1!$A$2:$A$6</c:f>
              <c:strCache>
                <c:ptCount val="5"/>
                <c:pt idx="0">
                  <c:v>Curing 2 days</c:v>
                </c:pt>
                <c:pt idx="1">
                  <c:v>28-day strength 17 MPa</c:v>
                </c:pt>
                <c:pt idx="2">
                  <c:v>Cover 18 mm</c:v>
                </c:pt>
                <c:pt idx="3">
                  <c:v>Crack width 2.4 mm</c:v>
                </c:pt>
                <c:pt idx="4">
                  <c:v>Defect: Rebar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</c:v>
                </c:pt>
                <c:pt idx="1">
                  <c:v>1.48</c:v>
                </c:pt>
                <c:pt idx="2">
                  <c:v>1.26</c:v>
                </c:pt>
                <c:pt idx="3">
                  <c:v>1.11</c:v>
                </c:pt>
                <c:pt idx="4">
                  <c:v>0.66</c:v>
                </c:pt>
              </c:numCache>
            </c:numRef>
          </c:val>
        </c:ser>
        <c:dLbls>
          <c:numFmt formatCode="&quot;+&quot;0.00" sourceLinked="0"/>
          <c:txPr>
            <a:bodyPr/>
            <a:lstStyle/>
            <a:p>
              <a:pPr>
                <a:defRPr sz="1400" b="1">
                  <a:solidFill>
                    <a:srgbClr val="242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565C0"/>
            </a:solidFill>
          </c:spPr>
          <c:cat>
            <c:strRef>
              <c:f>Sheet1!$A$2:$A$7</c:f>
              <c:strCache>
                <c:ptCount val="6"/>
                <c:pt idx="0">
                  <c:v>Curing duration</c:v>
                </c:pt>
                <c:pt idx="1">
                  <c:v>28-day strength</c:v>
                </c:pt>
                <c:pt idx="2">
                  <c:v>Cover depth</c:v>
                </c:pt>
                <c:pt idx="3">
                  <c:v>Water-cement ratio</c:v>
                </c:pt>
                <c:pt idx="4">
                  <c:v>Pour temperature</c:v>
                </c:pt>
                <c:pt idx="5">
                  <c:v>Slump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</c:v>
                </c:pt>
                <c:pt idx="1">
                  <c:v>0.24</c:v>
                </c:pt>
                <c:pt idx="2">
                  <c:v>0.15</c:v>
                </c:pt>
                <c:pt idx="3">
                  <c:v>0.07</c:v>
                </c:pt>
                <c:pt idx="4">
                  <c:v>0.05</c:v>
                </c:pt>
                <c:pt idx="5">
                  <c:v>0.01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solidFill>
                    <a:srgbClr val="242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is where inspection stops today. The project adds the next three questions: how serious, why, and how to prevent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objectives, one per stage. The rule throughout: models compute every number, language models only reason over that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public Roboflow datasets were merged and audited before training. The audit removed a greyscale class and near-full-frame boxes. Pour records are synthetic, generated from Abrams' law and IS 456, because linked supplier data is not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YOLOv8 finds five defect classes. The most severe defect found is passed to the risk model. Current weights are a 300-image validation run; full GPU training is the open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 reaches 74.5% against a 44.4% majority baseline. TreeSHAP explains each score toward the High class, so the sign never flips. A blank field is shown as not recorded, never as a measured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specialists each see only their own slice of the evidence and run in parallel. They are given IS 456 values and retrieved statistics instead of recalling them. A chair weighs their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off-target field becomes a candidate fix. The risk model re-scores the pour with fixes applied, and Shapley values share the reduction fairly, because one fix alone barely moves a pour failing on several fronts.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serves four endpoints; the React dashboard fills each panel as its stage finishes. The screenshot is a live run on the demo pour.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 records close at detection. Mix, curing and test data live in separate systems, so the cause is decided from memory and the same defect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Detection, then risk scoring, then prevention and investigation in parallel, then the dashboard. Imagery is public; pour records are synthetic but use the real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uses the simplest method whose output can be checked: an object detector, gradient-boosted trees with exact SHAP, Shapley attribution, and agents constrained to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separation test uses three constructed cases with known answers. Each specialist claimed the cause only when its own slice was at fault, and on a compliant pour the chair returned no cause at 0.20.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found four failures, and each fix is part of the result: invented code limits, language-model wording drift, an evidence leak between agents, and guesses shown as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modules run end to end. The main limitations are synthetic pour data and the subset-trained detector; the next steps follow directly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to the program partners, my guide and mentor, and the open-source and dataset authors.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references for the methods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QualitySentinel AI takes a construction site photograph through to a probable cause and a ranked set of preventive actions for the next pour.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notesSlide" Target="../notesSlides/notesSlide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QualitySentinel AI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Multimodal Construction Quality Investigation &amp; Prevention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Rushikesh Nirmal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25MML0016  ·  M.Tech AI &amp; ML, VIT Vellore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 site photo finds the crack. Nobody finds why — so the same defect returns.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95728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5E6462"/>
                </a:solidFill>
                <a:latin typeface="Calibri"/>
              </a:rPr>
              <a:t>Where inspection stops today</a:t>
            </a:r>
          </a:p>
        </p:txBody>
      </p:sp>
      <p:sp>
        <p:nvSpPr>
          <p:cNvPr id="8" name="Adds span"/>
          <p:cNvSpPr/>
          <p:nvPr/>
        </p:nvSpPr>
        <p:spPr>
          <a:xfrm>
            <a:off x="3300984" y="2377440"/>
            <a:ext cx="8503920" cy="31089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What QualitySentinel AI adds</a:t>
            </a:r>
          </a:p>
        </p:txBody>
      </p:sp>
      <p:sp>
        <p:nvSpPr>
          <p:cNvPr id="9" name="Question 1"/>
          <p:cNvSpPr/>
          <p:nvPr/>
        </p:nvSpPr>
        <p:spPr>
          <a:xfrm>
            <a:off x="320040" y="2788920"/>
            <a:ext cx="2542032" cy="196596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What happened?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Defect located on the site photo</a:t>
            </a:r>
          </a:p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5583D1"/>
                </a:solidFill>
                <a:latin typeface="Calibri"/>
              </a:rPr>
              <a:t>DETECTION</a:t>
            </a:r>
          </a:p>
        </p:txBody>
      </p:sp>
      <p:sp>
        <p:nvSpPr>
          <p:cNvPr id="10" name="Arrow"/>
          <p:cNvSpPr/>
          <p:nvPr/>
        </p:nvSpPr>
        <p:spPr>
          <a:xfrm>
            <a:off x="2907791" y="3630168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estion 2"/>
          <p:cNvSpPr/>
          <p:nvPr/>
        </p:nvSpPr>
        <p:spPr>
          <a:xfrm>
            <a:off x="3300984" y="2788920"/>
            <a:ext cx="2542032" cy="19659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How serious?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Risk scored from the pour record</a:t>
            </a:r>
          </a:p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5583D1"/>
                </a:solidFill>
                <a:latin typeface="Calibri"/>
              </a:rPr>
              <a:t>RISK ASSESSMENT</a:t>
            </a:r>
          </a:p>
        </p:txBody>
      </p:sp>
      <p:sp>
        <p:nvSpPr>
          <p:cNvPr id="12" name="Arrow"/>
          <p:cNvSpPr/>
          <p:nvPr/>
        </p:nvSpPr>
        <p:spPr>
          <a:xfrm>
            <a:off x="5888736" y="3630168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estion 3"/>
          <p:cNvSpPr/>
          <p:nvPr/>
        </p:nvSpPr>
        <p:spPr>
          <a:xfrm>
            <a:off x="6281927" y="2788920"/>
            <a:ext cx="2542032" cy="19659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Why?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Probable cause from three specialists</a:t>
            </a:r>
          </a:p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5583D1"/>
                </a:solidFill>
                <a:latin typeface="Calibri"/>
              </a:rPr>
              <a:t>INVESTIGATION</a:t>
            </a:r>
          </a:p>
        </p:txBody>
      </p:sp>
      <p:sp>
        <p:nvSpPr>
          <p:cNvPr id="14" name="Arrow"/>
          <p:cNvSpPr/>
          <p:nvPr/>
        </p:nvSpPr>
        <p:spPr>
          <a:xfrm>
            <a:off x="8869680" y="3630168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uestion 4"/>
          <p:cNvSpPr/>
          <p:nvPr/>
        </p:nvSpPr>
        <p:spPr>
          <a:xfrm>
            <a:off x="9262872" y="2788920"/>
            <a:ext cx="2542032" cy="19659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How to prevent it?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Fixes ranked for the next pour</a:t>
            </a:r>
          </a:p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5583D1"/>
                </a:solidFill>
                <a:latin typeface="Calibri"/>
              </a:rPr>
              <a:t>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93776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Built on public defect imagery and a pour-record dataset generated from documented concrete behaviour.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From site photograph to preventive action — every number computed, never generated.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Objective 1"/>
          <p:cNvSpPr/>
          <p:nvPr/>
        </p:nvSpPr>
        <p:spPr>
          <a:xfrm>
            <a:off x="320040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85800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Detect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Five defect classes located on a site photo</a:t>
            </a:r>
          </a:p>
        </p:txBody>
      </p:sp>
      <p:sp>
        <p:nvSpPr>
          <p:cNvPr id="8" name="Badge 1"/>
          <p:cNvSpPr/>
          <p:nvPr/>
        </p:nvSpPr>
        <p:spPr>
          <a:xfrm>
            <a:off x="1179576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Objective 2"/>
          <p:cNvSpPr/>
          <p:nvPr/>
        </p:nvSpPr>
        <p:spPr>
          <a:xfrm>
            <a:off x="2660904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85800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Score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Risk level, with the factors that drove it</a:t>
            </a:r>
          </a:p>
        </p:txBody>
      </p:sp>
      <p:sp>
        <p:nvSpPr>
          <p:cNvPr id="10" name="Badge 2"/>
          <p:cNvSpPr/>
          <p:nvPr/>
        </p:nvSpPr>
        <p:spPr>
          <a:xfrm>
            <a:off x="3520439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Objective 3"/>
          <p:cNvSpPr/>
          <p:nvPr/>
        </p:nvSpPr>
        <p:spPr>
          <a:xfrm>
            <a:off x="5001768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85800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Investigate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Specialist agents, each on its own evidence</a:t>
            </a:r>
          </a:p>
        </p:txBody>
      </p:sp>
      <p:sp>
        <p:nvSpPr>
          <p:cNvPr id="12" name="Badge 3"/>
          <p:cNvSpPr/>
          <p:nvPr/>
        </p:nvSpPr>
        <p:spPr>
          <a:xfrm>
            <a:off x="5861304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Objective 4"/>
          <p:cNvSpPr/>
          <p:nvPr/>
        </p:nvSpPr>
        <p:spPr>
          <a:xfrm>
            <a:off x="7342631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85800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Prevent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Fixes ranked by the risk each one removes</a:t>
            </a:r>
          </a:p>
        </p:txBody>
      </p:sp>
      <p:sp>
        <p:nvSpPr>
          <p:cNvPr id="14" name="Badge 4"/>
          <p:cNvSpPr/>
          <p:nvPr/>
        </p:nvSpPr>
        <p:spPr>
          <a:xfrm>
            <a:off x="8202167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Objective 5"/>
          <p:cNvSpPr/>
          <p:nvPr/>
        </p:nvSpPr>
        <p:spPr>
          <a:xfrm>
            <a:off x="9683496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85800" bIns="73152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Deliver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One dashboard that shows its own uncertainty</a:t>
            </a:r>
          </a:p>
        </p:txBody>
      </p:sp>
      <p:sp>
        <p:nvSpPr>
          <p:cNvPr id="16" name="Badge 5"/>
          <p:cNvSpPr/>
          <p:nvPr/>
        </p:nvSpPr>
        <p:spPr>
          <a:xfrm>
            <a:off x="10543032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Clean, audited data before any model sees it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Three Roboflow sources merged and remapped to five classes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Audit dropped a greyscale class (Rust) and near-full-frame boxes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4,000 pour records generated from Abrams' law and IS 456, seeded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— Data Acquisition &amp; Preparation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Stat 9,278"/>
          <p:cNvSpPr/>
          <p:nvPr/>
        </p:nvSpPr>
        <p:spPr>
          <a:xfrm>
            <a:off x="644652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9,278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site images</a:t>
            </a:r>
          </a:p>
        </p:txBody>
      </p:sp>
      <p:sp>
        <p:nvSpPr>
          <p:cNvPr id="20" name="Stat 21,685"/>
          <p:cNvSpPr/>
          <p:nvPr/>
        </p:nvSpPr>
        <p:spPr>
          <a:xfrm>
            <a:off x="914400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21,685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labelled defect boxes</a:t>
            </a:r>
          </a:p>
        </p:txBody>
      </p:sp>
      <p:sp>
        <p:nvSpPr>
          <p:cNvPr id="21" name="Stat 5"/>
          <p:cNvSpPr/>
          <p:nvPr/>
        </p:nvSpPr>
        <p:spPr>
          <a:xfrm>
            <a:off x="644652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defect classes</a:t>
            </a:r>
          </a:p>
        </p:txBody>
      </p:sp>
      <p:sp>
        <p:nvSpPr>
          <p:cNvPr id="22" name="Stat 4,000"/>
          <p:cNvSpPr/>
          <p:nvPr/>
        </p:nvSpPr>
        <p:spPr>
          <a:xfrm>
            <a:off x="914400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4,000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pour records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What is wrong, and where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YOLOv8 locates five defect classes on a site photo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The most severe defect, and its area, feeds the risk model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Pipeline validated on a 300-image run (mAP@50 0.438); full GPU training is the open item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— Construction Defect Detection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Severity order — the worst defect drives risk</a:t>
            </a:r>
          </a:p>
        </p:txBody>
      </p:sp>
      <p:sp>
        <p:nvSpPr>
          <p:cNvPr id="20" name="Severity 1"/>
          <p:cNvSpPr/>
          <p:nvPr/>
        </p:nvSpPr>
        <p:spPr>
          <a:xfrm>
            <a:off x="6446520" y="1874519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128016" tIns="73152" bIns="73152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Rebar</a:t>
            </a:r>
            <a:r>
              <a:rPr sz="1500" b="0">
                <a:solidFill>
                  <a:srgbClr val="FFFFFF"/>
                </a:solidFill>
                <a:latin typeface="Calibri"/>
              </a:rPr>
              <a:t>   exposed reinforcement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9339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Severity 2"/>
          <p:cNvSpPr/>
          <p:nvPr/>
        </p:nvSpPr>
        <p:spPr>
          <a:xfrm>
            <a:off x="6446520" y="2569463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2F6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128016" tIns="73152" bIns="73152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Spalling</a:t>
            </a:r>
            <a:r>
              <a:rPr sz="1500" b="0">
                <a:solidFill>
                  <a:srgbClr val="FFFFFF"/>
                </a:solidFill>
                <a:latin typeface="Calibri"/>
              </a:rPr>
              <a:t>   concrete broken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88335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Severity 3"/>
          <p:cNvSpPr/>
          <p:nvPr/>
        </p:nvSpPr>
        <p:spPr>
          <a:xfrm>
            <a:off x="6446520" y="3264408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55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128016" tIns="73152" bIns="73152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Crack</a:t>
            </a:r>
            <a:r>
              <a:rPr sz="1500" b="0">
                <a:solidFill>
                  <a:srgbClr val="FFFFFF"/>
                </a:solidFill>
                <a:latin typeface="Calibri"/>
              </a:rPr>
              <a:t>   surface or through crack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Severity 4"/>
          <p:cNvSpPr/>
          <p:nvPr/>
        </p:nvSpPr>
        <p:spPr>
          <a:xfrm>
            <a:off x="6446520" y="3959352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128016" tIns="73152" bIns="73152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Scaling</a:t>
            </a:r>
            <a:r>
              <a:rPr sz="1500" b="0">
                <a:solidFill>
                  <a:srgbClr val="242424"/>
                </a:solidFill>
                <a:latin typeface="Calibri"/>
              </a:rPr>
              <a:t>   surface flaking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782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28" name="Severity 5"/>
          <p:cNvSpPr/>
          <p:nvPr/>
        </p:nvSpPr>
        <p:spPr>
          <a:xfrm>
            <a:off x="6446520" y="4654296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128016" tIns="73152" bIns="73152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Efflorescence</a:t>
            </a:r>
            <a:r>
              <a:rPr sz="1500" b="0">
                <a:solidFill>
                  <a:srgbClr val="242424"/>
                </a:solidFill>
                <a:latin typeface="Calibri"/>
              </a:rPr>
              <a:t>   salt deposits on the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73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Severity, and the reasons behind it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XGBoost scores the pour record as Low, Medium or High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Exact TreeSHAP explains every score, always toward High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Blank fields are scored at the median but shown as ‘not recorded’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— Quality Risk Assessment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Accuracy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3400" b="1">
                <a:solidFill>
                  <a:srgbClr val="1F4E79"/>
                </a:solidFill>
                <a:latin typeface="Calibri"/>
              </a:rPr>
              <a:t>74.5%</a:t>
            </a:r>
            <a:r>
              <a:rPr sz="1600" b="0">
                <a:solidFill>
                  <a:srgbClr val="5E6462"/>
                </a:solidFill>
                <a:latin typeface="Calibri"/>
              </a:rPr>
              <a:t>   held-out accuracy  ·  baseline 44.4%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What drove a High score — SHAP contribution</a:t>
            </a:r>
          </a:p>
        </p:txBody>
      </p:sp>
      <p:graphicFrame>
        <p:nvGraphicFramePr>
          <p:cNvPr id="21" name="SHAP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Three slices of evidence, one chair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Three specialists run in parallel, each blind to the others’ evidence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Evidence is supplied, never recalled: IS 456 values and retrieved statistics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‘Insufficient evidence’ is a valid verdict — no data, no blame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— Multi-Agent Root-Cause Investigation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Pour record"/>
          <p:cNvSpPr/>
          <p:nvPr/>
        </p:nvSpPr>
        <p:spPr>
          <a:xfrm>
            <a:off x="6400800" y="278892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Pour record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+ defect</a:t>
            </a:r>
          </a:p>
        </p:txBody>
      </p:sp>
      <p:sp>
        <p:nvSpPr>
          <p:cNvPr id="20" name="Specialist Materials"/>
          <p:cNvSpPr/>
          <p:nvPr/>
        </p:nvSpPr>
        <p:spPr>
          <a:xfrm>
            <a:off x="8183879" y="150876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Materials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mix · supply · cover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726679" y="1988819"/>
            <a:ext cx="45720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32720" y="1988819"/>
            <a:ext cx="27432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pecialist Site execution"/>
          <p:cNvSpPr/>
          <p:nvPr/>
        </p:nvSpPr>
        <p:spPr>
          <a:xfrm>
            <a:off x="8183879" y="278892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Site execution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curing · heat · age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726679" y="3268979"/>
            <a:ext cx="45720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32720" y="3268979"/>
            <a:ext cx="27432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pecialist History"/>
          <p:cNvSpPr/>
          <p:nvPr/>
        </p:nvSpPr>
        <p:spPr>
          <a:xfrm>
            <a:off x="8183879" y="406907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History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matched past pours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3383280"/>
            <a:ext cx="45720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332720" y="3383280"/>
            <a:ext cx="27432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ir"/>
          <p:cNvSpPr/>
          <p:nvPr/>
        </p:nvSpPr>
        <p:spPr>
          <a:xfrm>
            <a:off x="10607040" y="278892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Chair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probable cause · gaps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Fixes ranked by the risk each one removes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Every off-target field becomes a fix with its IS 456 basis and owner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The risk model re-scores the pour with the fixes applied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Shapley values share the credit — alone, each fix reads near zero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— Preventive Action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Shift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B33A12"/>
                </a:solidFill>
                <a:latin typeface="Calibri"/>
              </a:rPr>
              <a:t>High</a:t>
            </a:r>
            <a:r>
              <a:rPr sz="2800" b="1">
                <a:solidFill>
                  <a:srgbClr val="5E6462"/>
                </a:solidFill>
                <a:latin typeface="Calibri"/>
              </a:rPr>
              <a:t>  →  </a:t>
            </a:r>
            <a:r>
              <a:rPr sz="3200" b="1">
                <a:solidFill>
                  <a:srgbClr val="9C8400"/>
                </a:solidFill>
                <a:latin typeface="Calibri"/>
              </a:rPr>
              <a:t>Medium</a:t>
            </a:r>
            <a:r>
              <a:rPr sz="1600" b="0">
                <a:solidFill>
                  <a:srgbClr val="5E6462"/>
                </a:solidFill>
                <a:latin typeface="Calibri"/>
              </a:rPr>
              <a:t>    all six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Share of the risk removed</a:t>
            </a:r>
          </a:p>
        </p:txBody>
      </p:sp>
      <p:graphicFrame>
        <p:nvGraphicFramePr>
          <p:cNvPr id="21" name="Shapley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39496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2400" b="0">
                <a:solidFill>
                  <a:srgbClr val="5583D1"/>
                </a:solidFill>
                <a:latin typeface="+mn-lt"/>
              </a:rPr>
              <a:t>One photograph in, every stage on one screen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FastAPI serves /detect, /assess, /prevent and /investigate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React dashboard fills each panel as its stage finishes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Detection, risk and fixes in about a second; agents in about five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— Dashboard &amp; Deployment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pic>
        <p:nvPicPr>
          <p:cNvPr id="19" name="Dashboard screenshot" descr="13c0907b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54" y="1371600"/>
            <a:ext cx="4520691" cy="3703320"/>
          </a:xfrm>
          <a:prstGeom prst="rect">
            <a:avLst/>
          </a:prstGeom>
          <a:ln w="12700">
            <a:solidFill>
              <a:srgbClr val="C6C8C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06440" y="5166360"/>
            <a:ext cx="5989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5E6462"/>
                </a:solidFill>
                <a:latin typeface="Calibri"/>
              </a:rPr>
              <a:t>Live run on the demo pour — risk on the left, ranked fixes on the right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Inspection stops at detection — cause and prevention are left to memory.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Today"/>
          <p:cNvSpPr/>
          <p:nvPr/>
        </p:nvSpPr>
        <p:spPr>
          <a:xfrm>
            <a:off x="320040" y="2423160"/>
            <a:ext cx="5257800" cy="283464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28016" tIns="182880" bIns="73152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5E6462"/>
                </a:solidFill>
                <a:latin typeface="Calibri"/>
              </a:rPr>
              <a:t>Today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Photo logged, record closed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Mix, curing and cube tests in separate systems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Cause decided from recollection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Same defect on the next pour</a:t>
            </a:r>
          </a:p>
        </p:txBody>
      </p:sp>
      <p:sp>
        <p:nvSpPr>
          <p:cNvPr id="8" name="Arrow"/>
          <p:cNvSpPr/>
          <p:nvPr/>
        </p:nvSpPr>
        <p:spPr>
          <a:xfrm>
            <a:off x="5760720" y="3611880"/>
            <a:ext cx="502920" cy="4572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eeded"/>
          <p:cNvSpPr/>
          <p:nvPr/>
        </p:nvSpPr>
        <p:spPr>
          <a:xfrm>
            <a:off x="6446520" y="2423160"/>
            <a:ext cx="5303520" cy="28346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28016" tIns="182880" bIns="73152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Needed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One record across photo and pour data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A probable cause backed by evidence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Fixes ranked by the risk they remove</a:t>
            </a:r>
          </a:p>
          <a:p>
            <a:pPr algn="l" marL="237744" indent="-237744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Honest about what was not measured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Models compute every number; language models only reason over the evidence.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Site photo"/>
          <p:cNvSpPr/>
          <p:nvPr/>
        </p:nvSpPr>
        <p:spPr>
          <a:xfrm>
            <a:off x="320040" y="274320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Site photo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+ pour record</a:t>
            </a:r>
          </a:p>
        </p:txBody>
      </p:sp>
      <p:sp>
        <p:nvSpPr>
          <p:cNvPr id="8" name="Detect"/>
          <p:cNvSpPr/>
          <p:nvPr/>
        </p:nvSpPr>
        <p:spPr>
          <a:xfrm>
            <a:off x="2331720" y="27432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Detect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YOLOv8</a:t>
            </a:r>
          </a:p>
        </p:txBody>
      </p:sp>
      <p:sp>
        <p:nvSpPr>
          <p:cNvPr id="9" name="Score"/>
          <p:cNvSpPr/>
          <p:nvPr/>
        </p:nvSpPr>
        <p:spPr>
          <a:xfrm>
            <a:off x="4572000" y="2743200"/>
            <a:ext cx="196596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Score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XGBoost + SHAP</a:t>
            </a:r>
          </a:p>
        </p:txBody>
      </p:sp>
      <p:sp>
        <p:nvSpPr>
          <p:cNvPr id="10" name="Arrow"/>
          <p:cNvSpPr/>
          <p:nvPr/>
        </p:nvSpPr>
        <p:spPr>
          <a:xfrm>
            <a:off x="193852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row"/>
          <p:cNvSpPr/>
          <p:nvPr/>
        </p:nvSpPr>
        <p:spPr>
          <a:xfrm>
            <a:off x="417880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vent"/>
          <p:cNvSpPr/>
          <p:nvPr/>
        </p:nvSpPr>
        <p:spPr>
          <a:xfrm>
            <a:off x="699516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Prevent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counterfactual + Shapley</a:t>
            </a:r>
          </a:p>
        </p:txBody>
      </p:sp>
      <p:sp>
        <p:nvSpPr>
          <p:cNvPr id="13" name="Investigate"/>
          <p:cNvSpPr/>
          <p:nvPr/>
        </p:nvSpPr>
        <p:spPr>
          <a:xfrm>
            <a:off x="6995160" y="3429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3 specialists + chair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537960" y="269748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329184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69748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26880" y="329184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shboard"/>
          <p:cNvSpPr/>
          <p:nvPr/>
        </p:nvSpPr>
        <p:spPr>
          <a:xfrm>
            <a:off x="9692640" y="274320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FastAPI + React</a:t>
            </a:r>
          </a:p>
        </p:txBody>
      </p:sp>
      <p:sp>
        <p:nvSpPr>
          <p:cNvPr id="19" name="Data Imagery"/>
          <p:cNvSpPr/>
          <p:nvPr/>
        </p:nvSpPr>
        <p:spPr>
          <a:xfrm>
            <a:off x="32004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Imagery  </a:t>
            </a:r>
            <a:r>
              <a:rPr sz="1400" b="0">
                <a:solidFill>
                  <a:srgbClr val="242424"/>
                </a:solidFill>
                <a:latin typeface="Calibri"/>
              </a:rPr>
              <a:t>3 public datasets, CC BY 4.0</a:t>
            </a:r>
          </a:p>
        </p:txBody>
      </p:sp>
      <p:sp>
        <p:nvSpPr>
          <p:cNvPr id="20" name="Data Pour records"/>
          <p:cNvSpPr/>
          <p:nvPr/>
        </p:nvSpPr>
        <p:spPr>
          <a:xfrm>
            <a:off x="416052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Pour records  </a:t>
            </a:r>
            <a:r>
              <a:rPr sz="1400" b="0">
                <a:solidFill>
                  <a:srgbClr val="242424"/>
                </a:solidFill>
                <a:latin typeface="Calibri"/>
              </a:rPr>
              <a:t>synthetic, from Abrams' law and IS 456</a:t>
            </a:r>
          </a:p>
        </p:txBody>
      </p:sp>
      <p:sp>
        <p:nvSpPr>
          <p:cNvPr id="21" name="Data Schema"/>
          <p:cNvSpPr/>
          <p:nvPr/>
        </p:nvSpPr>
        <p:spPr>
          <a:xfrm>
            <a:off x="800100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Schema  </a:t>
            </a:r>
            <a:r>
              <a:rPr sz="1400" b="0">
                <a:solidFill>
                  <a:srgbClr val="242424"/>
                </a:solidFill>
                <a:latin typeface="Calibri"/>
              </a:rPr>
              <a:t>real fields — site data drops in unchanged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Each layer uses the simplest method whose output can be checked.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Layer Detection"/>
          <p:cNvSpPr/>
          <p:nvPr/>
        </p:nvSpPr>
        <p:spPr>
          <a:xfrm>
            <a:off x="32004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Detection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YOLOv8 object detection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Ultralytics · OpenCV · Pillow</a:t>
            </a:r>
          </a:p>
        </p:txBody>
      </p:sp>
      <p:sp>
        <p:nvSpPr>
          <p:cNvPr id="8" name="Layer Risk scoring"/>
          <p:cNvSpPr/>
          <p:nvPr/>
        </p:nvSpPr>
        <p:spPr>
          <a:xfrm>
            <a:off x="416052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Risk scoring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Gradient-boosted trees + exact TreeSHAP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XGBoost · scikit-learn · joblib</a:t>
            </a:r>
          </a:p>
        </p:txBody>
      </p:sp>
      <p:sp>
        <p:nvSpPr>
          <p:cNvPr id="9" name="Layer Prevention"/>
          <p:cNvSpPr/>
          <p:nvPr/>
        </p:nvSpPr>
        <p:spPr>
          <a:xfrm>
            <a:off x="800100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Prevention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Counterfactual re-scoring + Shapley values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Python on the trained risk model</a:t>
            </a:r>
          </a:p>
        </p:txBody>
      </p:sp>
      <p:sp>
        <p:nvSpPr>
          <p:cNvPr id="10" name="Layer Investigation"/>
          <p:cNvSpPr/>
          <p:nvPr/>
        </p:nvSpPr>
        <p:spPr>
          <a:xfrm>
            <a:off x="32004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Investigation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Parallel specialist agents + a chair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gpt-oss-120b on Groq · JSON output</a:t>
            </a:r>
          </a:p>
        </p:txBody>
      </p:sp>
      <p:sp>
        <p:nvSpPr>
          <p:cNvPr id="11" name="Layer Service"/>
          <p:cNvSpPr/>
          <p:nvPr/>
        </p:nvSpPr>
        <p:spPr>
          <a:xfrm>
            <a:off x="416052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Service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Typed REST API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FastAPI · Pydantic · Uvicorn</a:t>
            </a:r>
          </a:p>
        </p:txBody>
      </p:sp>
      <p:sp>
        <p:nvSpPr>
          <p:cNvPr id="12" name="Layer Dashboard"/>
          <p:cNvSpPr/>
          <p:nvPr/>
        </p:nvSpPr>
        <p:spPr>
          <a:xfrm>
            <a:off x="800100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Dashboard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Progressive single-page app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React · Vite · hand-built SVG charts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Each specialist blamed its own slice only when that slice was at fault.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Stat 74.5%"/>
          <p:cNvSpPr/>
          <p:nvPr/>
        </p:nvSpPr>
        <p:spPr>
          <a:xfrm>
            <a:off x="320040" y="210312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74.5%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risk accuracy · baseline 44.4%</a:t>
            </a:r>
          </a:p>
        </p:txBody>
      </p:sp>
      <p:sp>
        <p:nvSpPr>
          <p:cNvPr id="8" name="Stat 3 / 3"/>
          <p:cNvSpPr/>
          <p:nvPr/>
        </p:nvSpPr>
        <p:spPr>
          <a:xfrm>
            <a:off x="320040" y="3218688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3 / 3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separation cases passed</a:t>
            </a:r>
          </a:p>
        </p:txBody>
      </p:sp>
      <p:sp>
        <p:nvSpPr>
          <p:cNvPr id="9" name="Stat 0.20"/>
          <p:cNvSpPr/>
          <p:nvPr/>
        </p:nvSpPr>
        <p:spPr>
          <a:xfrm>
            <a:off x="320040" y="4334256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0.20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confidence on a compliant pour</a:t>
            </a:r>
          </a:p>
        </p:txBody>
      </p:sp>
      <p:graphicFrame>
        <p:nvGraphicFramePr>
          <p:cNvPr id="10" name="Separation table"/>
          <p:cNvGraphicFramePr>
            <a:graphicFrameLocks noGrp="1"/>
          </p:cNvGraphicFramePr>
          <p:nvPr/>
        </p:nvGraphicFramePr>
        <p:xfrm>
          <a:off x="3657600" y="2103120"/>
          <a:ext cx="8092439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600200"/>
                <a:gridCol w="1600200"/>
                <a:gridCol w="1325880"/>
                <a:gridCol w="1691640"/>
              </a:tblGrid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anchor="ctr" marL="91440" marR="9144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Materials</a:t>
                      </a:r>
                    </a:p>
                  </a:txBody>
                  <a:tcPr anchor="ctr" marL="91440" marR="9144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Site execution</a:t>
                      </a:r>
                    </a:p>
                  </a:txBody>
                  <a:tcPr anchor="ctr" marL="91440" marR="9144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anchor="ctr" marL="91440" marR="9144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Chair</a:t>
                      </a:r>
                    </a:p>
                  </a:txBody>
                  <a:tcPr anchor="ctr" marL="91440" marR="91440">
                    <a:solidFill>
                      <a:srgbClr val="1F4E79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Bad mix, good site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 0.95</a:t>
                      </a:r>
                    </a:p>
                  </a:txBody>
                  <a:tcPr anchor="ctr" marL="91440" marR="91440">
                    <a:solidFill>
                      <a:srgbClr val="F6DF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Contributing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Cover depth · 0.92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Good mix, bad site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 0.95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 0.95</a:t>
                      </a:r>
                    </a:p>
                  </a:txBody>
                  <a:tcPr anchor="ctr" marL="91440" marR="91440">
                    <a:solidFill>
                      <a:srgbClr val="F6DF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 marL="91440" marR="91440">
                    <a:solidFill>
                      <a:srgbClr val="F6DF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Curing · 0.88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All within spec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 cause · 0.20</a:t>
                      </a:r>
                    </a:p>
                  </a:txBody>
                  <a:tcPr anchor="ctr" marL="91440" marR="9144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Testing exposed four failures — each one fixed, not hidden.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Failure 1"/>
          <p:cNvSpPr/>
          <p:nvPr/>
        </p:nvSpPr>
        <p:spPr>
          <a:xfrm>
            <a:off x="320040" y="21031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Invented code limits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B33A12"/>
                </a:solidFill>
                <a:latin typeface="Calibri"/>
              </a:rPr>
              <a:t>Found  </a:t>
            </a:r>
            <a:r>
              <a:rPr sz="1600" b="0">
                <a:solidFill>
                  <a:srgbClr val="242424"/>
                </a:solidFill>
                <a:latin typeface="Calibri"/>
              </a:rPr>
              <a:t>Agent cited 20 mm column cover; IS 456 says 40 mm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Fixed  </a:t>
            </a:r>
            <a:r>
              <a:rPr sz="1600" b="0">
                <a:solidFill>
                  <a:srgbClr val="242424"/>
                </a:solidFill>
                <a:latin typeface="Calibri"/>
              </a:rPr>
              <a:t>IS 456 values supplied; only those may be cited</a:t>
            </a:r>
          </a:p>
        </p:txBody>
      </p:sp>
      <p:sp>
        <p:nvSpPr>
          <p:cNvPr id="8" name="Failure 2"/>
          <p:cNvSpPr/>
          <p:nvPr/>
        </p:nvSpPr>
        <p:spPr>
          <a:xfrm>
            <a:off x="6080759" y="21031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Language-model wording drift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B33A12"/>
                </a:solidFill>
                <a:latin typeface="Calibri"/>
              </a:rPr>
              <a:t>Found  </a:t>
            </a:r>
            <a:r>
              <a:rPr sz="1600" b="0">
                <a:solidFill>
                  <a:srgbClr val="242424"/>
                </a:solidFill>
                <a:latin typeface="Calibri"/>
              </a:rPr>
              <a:t>Wrong site methods — ‘add sand’ to cut slump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Fixed  </a:t>
            </a:r>
            <a:r>
              <a:rPr sz="1600" b="0">
                <a:solidFill>
                  <a:srgbClr val="242424"/>
                </a:solidFill>
                <a:latin typeface="Calibri"/>
              </a:rPr>
              <a:t>Fixed templates; the model removed from Module 5</a:t>
            </a:r>
          </a:p>
        </p:txBody>
      </p:sp>
      <p:sp>
        <p:nvSpPr>
          <p:cNvPr id="9" name="Failure 3"/>
          <p:cNvSpPr/>
          <p:nvPr/>
        </p:nvSpPr>
        <p:spPr>
          <a:xfrm>
            <a:off x="320040" y="379476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Evidence leak between agents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B33A12"/>
                </a:solidFill>
                <a:latin typeface="Calibri"/>
              </a:rPr>
              <a:t>Found  </a:t>
            </a:r>
            <a:r>
              <a:rPr sz="1600" b="0">
                <a:solidFill>
                  <a:srgbClr val="242424"/>
                </a:solidFill>
                <a:latin typeface="Calibri"/>
              </a:rPr>
              <a:t>Shared factor list let Materials see curing days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Fixed  </a:t>
            </a:r>
            <a:r>
              <a:rPr sz="1600" b="0">
                <a:solidFill>
                  <a:srgbClr val="242424"/>
                </a:solidFill>
                <a:latin typeface="Calibri"/>
              </a:rPr>
              <a:t>Per-slice factors; Materials now stands down</a:t>
            </a:r>
          </a:p>
        </p:txBody>
      </p:sp>
      <p:sp>
        <p:nvSpPr>
          <p:cNvPr id="10" name="Failure 4"/>
          <p:cNvSpPr/>
          <p:nvPr/>
        </p:nvSpPr>
        <p:spPr>
          <a:xfrm>
            <a:off x="6080759" y="379476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8016" tIns="73152" bIns="73152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Guesses shown as measurements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B33A12"/>
                </a:solidFill>
                <a:latin typeface="Calibri"/>
              </a:rPr>
              <a:t>Found  </a:t>
            </a:r>
            <a:r>
              <a:rPr sz="1600" b="0">
                <a:solidFill>
                  <a:srgbClr val="242424"/>
                </a:solidFill>
                <a:latin typeface="Calibri"/>
              </a:rPr>
              <a:t>Blank fields shown at their dataset median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Fixed  </a:t>
            </a:r>
            <a:r>
              <a:rPr sz="1600" b="0">
                <a:solidFill>
                  <a:srgbClr val="242424"/>
                </a:solidFill>
                <a:latin typeface="Calibri"/>
              </a:rPr>
              <a:t>Marked ‘not recorded’; never used as evidence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All six modules run end to end from one site photograph.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Delivered"/>
          <p:cNvSpPr/>
          <p:nvPr/>
        </p:nvSpPr>
        <p:spPr>
          <a:xfrm>
            <a:off x="32004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73152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Delivered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Photo → risk → cause → fixes on one screen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Every number computed by a model, not generated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Missing data stated, never guessed</a:t>
            </a:r>
          </a:p>
        </p:txBody>
      </p:sp>
      <p:sp>
        <p:nvSpPr>
          <p:cNvPr id="8" name="Limitations"/>
          <p:cNvSpPr/>
          <p:nvPr/>
        </p:nvSpPr>
        <p:spPr>
          <a:xfrm>
            <a:off x="416052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73152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Limitations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Pour records are synthetic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Detector trained on a 300-image run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Fields treated as independent in the counterfactual</a:t>
            </a:r>
          </a:p>
        </p:txBody>
      </p:sp>
      <p:sp>
        <p:nvSpPr>
          <p:cNvPr id="9" name="Next steps"/>
          <p:cNvSpPr/>
          <p:nvPr/>
        </p:nvSpPr>
        <p:spPr>
          <a:xfrm>
            <a:off x="800100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73152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Next steps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Full-dataset GPU training of the detector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Crack size from the crack, not its box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Persist inspections; verify the IS 456 table</a:t>
            </a:r>
          </a:p>
          <a:p>
            <a:pPr algn="l" marL="237744" indent="-237744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Containerise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Thank you to everyone who made this project possible.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Thanks 1"/>
          <p:cNvSpPr/>
          <p:nvPr/>
        </p:nvSpPr>
        <p:spPr>
          <a:xfrm>
            <a:off x="320040" y="22402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Calibri"/>
              </a:rPr>
              <a:t>VIT Vellore &amp; LTIMindtree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for the Advanced Industry Integrated Program that made this project possible</a:t>
            </a:r>
          </a:p>
        </p:txBody>
      </p:sp>
      <p:sp>
        <p:nvSpPr>
          <p:cNvPr id="8" name="Thanks 2"/>
          <p:cNvSpPr/>
          <p:nvPr/>
        </p:nvSpPr>
        <p:spPr>
          <a:xfrm>
            <a:off x="4160520" y="22402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spcBef>
                <a:spcPts val="0"/>
              </a:spcBef>
            </a:pPr>
            <a:r>
              <a:rPr sz="2100" b="1">
                <a:solidFill>
                  <a:srgbClr val="1F4E79"/>
                </a:solidFill>
                <a:latin typeface="Calibri"/>
              </a:rPr>
              <a:t>Faculty guide &amp; industry mentor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242424"/>
                </a:solidFill>
                <a:latin typeface="Calibri"/>
              </a:rPr>
              <a:t>for guidance, honest feedback and reviews at every stage</a:t>
            </a:r>
          </a:p>
        </p:txBody>
      </p:sp>
      <p:sp>
        <p:nvSpPr>
          <p:cNvPr id="9" name="Thanks 3"/>
          <p:cNvSpPr/>
          <p:nvPr/>
        </p:nvSpPr>
        <p:spPr>
          <a:xfrm>
            <a:off x="8001000" y="22402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spcBef>
                <a:spcPts val="0"/>
              </a:spcBef>
            </a:pPr>
            <a:r>
              <a:rPr sz="2100" b="1">
                <a:solidFill>
                  <a:srgbClr val="1F4E79"/>
                </a:solidFill>
                <a:latin typeface="Calibri"/>
              </a:rPr>
              <a:t>L&amp;T EduTech &amp; open source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242424"/>
                </a:solidFill>
                <a:latin typeface="Calibri"/>
              </a:rPr>
              <a:t>for programme support, and the public datasets and tools this work builds on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430000" cy="4206240"/>
          </a:xfrm>
        </p:spPr>
        <p:txBody>
          <a:bodyPr wrap="square"/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[1]  G. Jocher, A. Chaurasia, J. Qiu, “Ultralytics YOLOv8,” 2023. github.com/ultralytics/ultralytics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[2]  T. Chen, C. Guestrin, “XGBoost: A Scalable Tree Boosting System,” Proc. ACM SIGKDD, pp. 785–794, 2016.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[3]  S. M. Lundberg, S.-I. Lee, “A Unified Approach to Interpreting Model Predictions,” NeurIPS, 2017.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[4]  S. M. Lundberg et al., “From local explanations to global understanding with explainable AI for trees,” Nature Machine Intelligence, 2, pp. 56–67, 2020.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[5]  L. S. Shapley, “A Value for n-Person Games,” Contributions to the Theory of Games II, Princeton Univ. Press, pp. 307–317, 1953.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[6]  P. Lewis et al., “Retrieval-Augmented Generation for Knowledge-Intensive NLP Tasks,” NeurIPS, 2020.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[7]  OpenAI, “gpt-oss-120b &amp; gpt-oss-20b Model Card,” 2025.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[8]  Bureau of Indian Standards, IS 456:2000 — Plain and Reinforced Concrete, Code of Practice (Fourth Revision).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[9]  D. A. Abrams, “Design of Concrete Mixtures,” Bulletin 1, Structural Materials Research Laboratory, Lewis Institute, 1918.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[10]  Chow et al., Automation in Construction, 2021 — construction defect detection.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[11]  Wang &amp; El-Gohary, Automation in Construction, 2024 — construction-site visual compliance.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[12]  Roboflow Universe — public concrete crack, spalling and defect datasets, CC BY 4.0.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