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7" r:id="rId7"/>
    <p:sldId id="2147470491" r:id="rId8"/>
    <p:sldId id="21474704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0" y="17705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QualitySentinel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- Multimodal Construction Quality Investigation &amp; Prevention Platform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Rushikesh Nirmal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ID: T9932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4468" y="132376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Construction defects are often identified through site observations or photographs, but identifying a defect is only the first step.</a:t>
            </a:r>
          </a:p>
          <a:p>
            <a:pPr marL="0" indent="0">
              <a:buNone/>
            </a:pP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The major challenge is to determine: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What happened? → How serious is it? → Why did it happen? → How can it be prevented?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b="0" dirty="0" err="1">
                <a:solidFill>
                  <a:schemeClr val="tx1"/>
                </a:solidFill>
              </a:rPr>
              <a:t>QualitySentinel</a:t>
            </a:r>
            <a:r>
              <a:rPr lang="en-US" sz="2400" b="0" dirty="0">
                <a:solidFill>
                  <a:schemeClr val="tx1"/>
                </a:solidFill>
              </a:rPr>
              <a:t> AI is proposed as a multimodal AI platform that combines: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Site photographs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Supplier / material information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Quality test measurements </a:t>
            </a:r>
          </a:p>
          <a:p>
            <a:r>
              <a:rPr lang="en-US" sz="2400" b="0" dirty="0">
                <a:solidFill>
                  <a:schemeClr val="tx1"/>
                </a:solidFill>
              </a:rPr>
              <a:t>Historical project records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21274" y="57135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0624338" cy="48247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chemeClr val="tx1"/>
                </a:solidFill>
              </a:rPr>
              <a:t>To build a multimodal AI platform that detects construction defects from site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chemeClr val="tx1"/>
                </a:solidFill>
              </a:rPr>
              <a:t>photos, assesses quality risk, investigates root causes using multi-agent LLMs, and recommends preventive actions.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Key Objectives</a:t>
            </a:r>
          </a:p>
          <a:p>
            <a:pPr marL="0" indent="0">
              <a:buNone/>
            </a:pPr>
            <a:r>
              <a:rPr lang="en-US" sz="2400" b="0" dirty="0">
                <a:solidFill>
                  <a:schemeClr val="tx1"/>
                </a:solidFill>
              </a:rPr>
              <a:t>1. Defect Detection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2. Risk Assessment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3. Root-Cause Investigation</a:t>
            </a:r>
            <a:br>
              <a:rPr lang="en-US" sz="2400" b="0" dirty="0">
                <a:solidFill>
                  <a:schemeClr val="tx1"/>
                </a:solidFill>
              </a:rPr>
            </a:br>
            <a:r>
              <a:rPr lang="en-US" sz="2400" b="0" dirty="0">
                <a:solidFill>
                  <a:schemeClr val="tx1"/>
                </a:solidFill>
              </a:rPr>
              <a:t>4. Prevention Recommendation</a:t>
            </a:r>
            <a:br>
              <a:rPr lang="en-US" sz="2400" b="0" dirty="0">
                <a:solidFill>
                  <a:schemeClr val="tx1"/>
                </a:solidFill>
              </a:rPr>
            </a:br>
            <a:endParaRPr lang="en-US" sz="24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241876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Data Integration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Construction site photographs 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Supplier and material information 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Quality and test measurements </a:t>
            </a:r>
          </a:p>
          <a:p>
            <a:r>
              <a:rPr lang="en-IN" sz="2400" b="0" dirty="0">
                <a:solidFill>
                  <a:schemeClr val="tx1"/>
                </a:solidFill>
                <a:latin typeface="+mn-lt"/>
              </a:rPr>
              <a:t>Historical defect and project records </a:t>
            </a:r>
          </a:p>
          <a:p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AI / ML Pipeline</a:t>
            </a: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  <a:latin typeface="+mn-lt"/>
              </a:rPr>
              <a:t>Image → Defect Detection → Risk Scoring → Root-Cause Analysis → Prevention</a:t>
            </a:r>
          </a:p>
          <a:p>
            <a:pPr marL="0" indent="0">
              <a:buNone/>
            </a:pPr>
            <a:endParaRPr lang="en-IN" sz="2400" b="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B2504-889A-F506-7F3B-C421094868F2}"/>
              </a:ext>
            </a:extLst>
          </p:cNvPr>
          <p:cNvSpPr txBox="1"/>
          <p:nvPr/>
        </p:nvSpPr>
        <p:spPr>
          <a:xfrm>
            <a:off x="6093893" y="1314099"/>
            <a:ext cx="5842111" cy="277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Application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FastAPI</a:t>
            </a:r>
            <a:r>
              <a:rPr lang="en-IN" sz="2400" dirty="0"/>
              <a:t> backend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React-based dashboard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Defect and risk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Investigation and recommendation interface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Construction Defect Detection</a:t>
            </a:r>
          </a:p>
          <a:p>
            <a:r>
              <a:rPr lang="en-IN" sz="2400" b="0" dirty="0">
                <a:solidFill>
                  <a:schemeClr val="tx1"/>
                </a:solidFill>
              </a:rPr>
              <a:t>Chow et al. (2021), Automation in Construction</a:t>
            </a:r>
          </a:p>
          <a:p>
            <a:pPr marL="0" indent="0">
              <a:buNone/>
            </a:pPr>
            <a:endParaRPr lang="en-IN" sz="24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b="0" dirty="0">
                <a:solidFill>
                  <a:schemeClr val="tx1"/>
                </a:solidFill>
              </a:rPr>
              <a:t>Construction-Site Visual Compliance</a:t>
            </a:r>
          </a:p>
          <a:p>
            <a:r>
              <a:rPr lang="en-IN" sz="2400" b="0" dirty="0">
                <a:solidFill>
                  <a:schemeClr val="tx1"/>
                </a:solidFill>
              </a:rPr>
              <a:t>Wang &amp; El-Gohary (2024), Automation in Construction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</a:t>
            </a:r>
            <a:r>
              <a:rPr kumimoji="0" lang="en-I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roposed</a:t>
            </a: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System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C79FE-4393-1067-EB56-551CA6719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2781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973478" cy="4519981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Module 1 — Data Acquisition &amp; Preparation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Collection, cleaning and preparation of site images, supplier data, test data and historical project records.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2 — Construction Defect Detection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YOLOv8-based detection and localization of construction defects from site photographs.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3 — Quality Risk Assessment</a:t>
            </a:r>
          </a:p>
          <a:p>
            <a:pPr marL="457200" lvl="1" indent="0">
              <a:buNone/>
            </a:pPr>
            <a:r>
              <a:rPr lang="en-US" b="0" dirty="0" err="1">
                <a:solidFill>
                  <a:schemeClr val="tx1"/>
                </a:solidFill>
              </a:rPr>
              <a:t>XGBoost</a:t>
            </a:r>
            <a:r>
              <a:rPr lang="en-US" b="0" dirty="0">
                <a:solidFill>
                  <a:schemeClr val="tx1"/>
                </a:solidFill>
              </a:rPr>
              <a:t>-based prediction of quality risk with SHAP-based explanation of important contributing factors.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FD9F57-C0A2-7384-6B1B-92BA00959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Module 4 — Multi-Agent Root-Cause Investigation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Use of multiple LLM agents to </a:t>
            </a:r>
            <a:r>
              <a:rPr lang="en-US" b="0" dirty="0" err="1">
                <a:solidFill>
                  <a:schemeClr val="tx1"/>
                </a:solidFill>
              </a:rPr>
              <a:t>analyse</a:t>
            </a:r>
            <a:r>
              <a:rPr lang="en-US" b="0" dirty="0">
                <a:solidFill>
                  <a:schemeClr val="tx1"/>
                </a:solidFill>
              </a:rPr>
              <a:t> defect evidence and investigate probable root causes.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5 — Preventive Action Recommendation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Generation of preventive recommendations based on identified defects, risks and root causes.</a:t>
            </a:r>
          </a:p>
          <a:p>
            <a:pPr marL="457200" lvl="1" indent="0">
              <a:buNone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Module 6 — Dashboard &amp; Deployment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/>
                </a:solidFill>
              </a:rPr>
              <a:t>Integration of the complete pipeline into a React and </a:t>
            </a:r>
            <a:r>
              <a:rPr lang="en-US" b="0" dirty="0" err="1">
                <a:solidFill>
                  <a:schemeClr val="tx1"/>
                </a:solidFill>
              </a:rPr>
              <a:t>FastAPI</a:t>
            </a:r>
            <a:r>
              <a:rPr lang="en-US" b="0" dirty="0">
                <a:solidFill>
                  <a:schemeClr val="tx1"/>
                </a:solidFill>
              </a:rPr>
              <a:t> application with </a:t>
            </a:r>
            <a:r>
              <a:rPr lang="en-US" b="0" dirty="0" err="1">
                <a:solidFill>
                  <a:schemeClr val="tx1"/>
                </a:solidFill>
              </a:rPr>
              <a:t>MLflow</a:t>
            </a:r>
            <a:r>
              <a:rPr lang="en-US" b="0" dirty="0">
                <a:solidFill>
                  <a:schemeClr val="tx1"/>
                </a:solidFill>
              </a:rPr>
              <a:t> and Docker support.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2889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413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Rushikesh</dc:creator>
  <cp:lastModifiedBy>Rushikesh Nirmal</cp:lastModifiedBy>
  <cp:revision>13</cp:revision>
  <dcterms:created xsi:type="dcterms:W3CDTF">2024-05-13T10:33:11Z</dcterms:created>
  <dcterms:modified xsi:type="dcterms:W3CDTF">2026-10-06T04:29:19Z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