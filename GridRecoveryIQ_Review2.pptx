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0489" r:id="rId2"/>
    <p:sldId id="2147470492" r:id="rId3"/>
    <p:sldId id="2147470493" r:id="rId4"/>
    <p:sldId id="2147470487" r:id="rId5"/>
    <p:sldId id="2147470502" r:id="rId6"/>
    <p:sldId id="2147470501" r:id="rId7"/>
    <p:sldId id="2147470494" r:id="rId8"/>
    <p:sldId id="2147470497" r:id="rId9"/>
    <p:sldId id="2147470498" r:id="rId10"/>
    <p:sldId id="2147470500" r:id="rId11"/>
    <p:sldId id="214747049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microsoft.com/office/2007/relationships/hdphoto" Target="../media/hdphoto3.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M.Tech/MCA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96372" y="1870681"/>
            <a:ext cx="11428184" cy="5262979"/>
          </a:xfrm>
          <a:prstGeom prst="rect">
            <a:avLst/>
          </a:prstGeom>
          <a:noFill/>
        </p:spPr>
        <p:txBody>
          <a:bodyPr wrap="square">
            <a:noAutofit/>
          </a:bodyPr>
          <a:lstStyle/>
          <a:p>
            <a:pPr marL="0" marR="0" lvl="0" indent="0" algn="ctr" defTabSz="914400" rtl="0" eaLnBrk="1" fontAlgn="auto" latinLnBrk="0" hangingPunct="1">
              <a:buClrTx/>
              <a:buSzTx/>
              <a:buFontTx/>
              <a:buNone/>
              <a:tabLst/>
              <a:defRPr/>
            </a:pPr>
            <a:r>
              <a:rPr sz="3000" b="1" dirty="0">
                <a:solidFill>
                  <a:srgbClr val="DCECF5"/>
                </a:solidFill>
                <a:latin typeface="Calibri"/>
              </a:rPr>
              <a:t>Review II</a:t>
            </a:r>
          </a:p>
          <a:p>
            <a:pPr marL="0" indent="0" algn="ctr">
              <a:buNone/>
            </a:pPr>
            <a:r>
              <a:rPr sz="4400" b="1" dirty="0" err="1">
                <a:solidFill>
                  <a:srgbClr val="FFFFFF"/>
                </a:solidFill>
                <a:latin typeface="Calibri"/>
              </a:rPr>
              <a:t>GridRecoveryIQ</a:t>
            </a:r>
            <a:endParaRPr sz="4400" b="1" dirty="0">
              <a:solidFill>
                <a:srgbClr val="FFFFFF"/>
              </a:solidFill>
              <a:latin typeface="Calibri"/>
            </a:endParaRPr>
          </a:p>
          <a:p>
            <a:pPr marL="0" indent="0" algn="ctr">
              <a:buNone/>
            </a:pPr>
            <a:r>
              <a:rPr sz="2200" b="0" dirty="0">
                <a:solidFill>
                  <a:srgbClr val="DCECF5"/>
                </a:solidFill>
                <a:latin typeface="Calibri"/>
              </a:rPr>
              <a:t>Agentic Outage Risk Prediction &amp; Restoration </a:t>
            </a:r>
            <a:r>
              <a:rPr sz="2200" b="0" dirty="0" err="1">
                <a:solidFill>
                  <a:srgbClr val="DCECF5"/>
                </a:solidFill>
                <a:latin typeface="Calibri"/>
              </a:rPr>
              <a:t>Optimisation</a:t>
            </a:r>
            <a:endParaRPr lang="en-IN" sz="2200" b="0" dirty="0">
              <a:solidFill>
                <a:srgbClr val="DCECF5"/>
              </a:solidFill>
              <a:latin typeface="Calibri"/>
            </a:endParaRPr>
          </a:p>
          <a:p>
            <a:pPr marL="0" indent="0" algn="ctr">
              <a:buNone/>
            </a:pPr>
            <a:endParaRPr lang="en-IN" sz="2200" b="0" dirty="0">
              <a:solidFill>
                <a:srgbClr val="DCECF5"/>
              </a:solidFill>
              <a:latin typeface="Calibri"/>
            </a:endParaRPr>
          </a:p>
          <a:p>
            <a:pPr marL="0" indent="0" algn="ctr">
              <a:buNone/>
            </a:pPr>
            <a:endParaRPr sz="2200" b="0" dirty="0">
              <a:solidFill>
                <a:srgbClr val="DCECF5"/>
              </a:solidFill>
              <a:latin typeface="Calibri"/>
            </a:endParaRPr>
          </a:p>
          <a:p>
            <a:pPr marL="0" indent="0">
              <a:buNone/>
            </a:pPr>
            <a:r>
              <a:rPr sz="2300" b="1" dirty="0">
                <a:solidFill>
                  <a:srgbClr val="FFFFFF"/>
                </a:solidFill>
                <a:latin typeface="Calibri"/>
              </a:rPr>
              <a:t>Rushikesh Rahul Nirmal</a:t>
            </a:r>
          </a:p>
          <a:p>
            <a:pPr marL="0" indent="0">
              <a:buNone/>
            </a:pPr>
            <a:r>
              <a:rPr sz="1600" b="0" dirty="0">
                <a:solidFill>
                  <a:srgbClr val="DCECF5"/>
                </a:solidFill>
                <a:latin typeface="Calibri"/>
              </a:rPr>
              <a:t>25MML0016  ·  </a:t>
            </a:r>
            <a:r>
              <a:rPr sz="1600" b="0" dirty="0" err="1">
                <a:solidFill>
                  <a:srgbClr val="DCECF5"/>
                </a:solidFill>
                <a:latin typeface="Calibri"/>
              </a:rPr>
              <a:t>M.Tech</a:t>
            </a:r>
            <a:r>
              <a:rPr sz="1600" b="0" dirty="0">
                <a:solidFill>
                  <a:srgbClr val="DCECF5"/>
                </a:solidFill>
                <a:latin typeface="Calibri"/>
              </a:rPr>
              <a:t> Artificial Intelligence &amp; Machine Learning</a:t>
            </a:r>
          </a:p>
          <a:p>
            <a:pPr marL="0" indent="0">
              <a:buNone/>
            </a:pPr>
            <a:r>
              <a:rPr sz="1600" b="0" dirty="0">
                <a:solidFill>
                  <a:srgbClr val="DCECF5"/>
                </a:solidFill>
                <a:latin typeface="Calibri"/>
              </a:rPr>
              <a:t>VIT Vellore  ·  Jointly offered with </a:t>
            </a:r>
            <a:r>
              <a:rPr sz="1600" b="0" dirty="0" err="1">
                <a:solidFill>
                  <a:srgbClr val="DCECF5"/>
                </a:solidFill>
                <a:latin typeface="Calibri"/>
              </a:rPr>
              <a:t>LTIMindtree</a:t>
            </a:r>
            <a:endParaRPr sz="1600" b="0" dirty="0">
              <a:solidFill>
                <a:srgbClr val="DCECF5"/>
              </a:solidFill>
              <a:latin typeface="Calibri"/>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a:extLst>
              <a:ext uri="{FF2B5EF4-FFF2-40B4-BE49-F238E27FC236}">
                <a16:creationId xmlns:a16="http://schemas.microsoft.com/office/drawing/2014/main" id="{B3D78849-E5F7-1DB2-227F-14244586123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50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502920" y="1325880"/>
            <a:ext cx="10241280" cy="4434840"/>
          </a:xfrm>
        </p:spPr>
        <p:txBody>
          <a:bodyPr wrap="square" lIns="0" rIns="0" anchor="t">
            <a:noAutofit/>
          </a:bodyPr>
          <a:lstStyle/>
          <a:p>
            <a:pPr marL="237744" indent="-237744">
              <a:buChar char="•"/>
            </a:pPr>
            <a:r>
              <a:rPr sz="1600" b="0">
                <a:solidFill>
                  <a:srgbClr val="242424"/>
                </a:solidFill>
                <a:latin typeface="Calibri"/>
              </a:rPr>
              <a:t>An 11 kV distribution feeder is radial — power flows one way, from the substation outward to the ends.</a:t>
            </a:r>
            <a:endParaRPr lang="en-US" sz="2400" b="0" dirty="0">
              <a:solidFill>
                <a:srgbClr val="5583D1"/>
              </a:solidFill>
            </a:endParaRPr>
          </a:p>
          <a:p>
            <a:pPr marL="237744" indent="-237744">
              <a:buChar char="•"/>
            </a:pPr>
            <a:r>
              <a:rPr sz="1600" b="0">
                <a:solidFill>
                  <a:srgbClr val="242424"/>
                </a:solidFill>
                <a:latin typeface="Calibri"/>
              </a:rPr>
              <a:t>When a fault occurs, protection drops the entire feeder. Thousands of customers lose supply although only one section is physically damaged.</a:t>
            </a:r>
          </a:p>
          <a:p>
            <a:pPr marL="237744" indent="-237744">
              <a:buChar char="•"/>
            </a:pPr>
            <a:r>
              <a:rPr sz="1600" b="0">
                <a:solidFill>
                  <a:srgbClr val="242424"/>
                </a:solidFill>
                <a:latin typeface="Calibri"/>
              </a:rPr>
              <a:t>Most of the resulting outage is therefore topological, not physical: healthy load sitting dark purely because of how the network is switched.</a:t>
            </a:r>
          </a:p>
          <a:p>
            <a:pPr marL="237744" indent="-237744">
              <a:buChar char="•"/>
            </a:pPr>
            <a:r>
              <a:rPr sz="1600" b="0">
                <a:solidFill>
                  <a:srgbClr val="242424"/>
                </a:solidFill>
                <a:latin typeface="Calibri"/>
              </a:rPr>
              <a:t>Distribution utilities are measured on customer-minutes interrupted, so that avoidable share is the dominant cost of every fault.</a:t>
            </a:r>
          </a:p>
          <a:p>
            <a:pPr marL="237744" indent="-237744">
              <a:buChar char="•"/>
            </a:pPr>
            <a:r>
              <a:rPr sz="1600" b="0">
                <a:solidFill>
                  <a:srgbClr val="242424"/>
                </a:solidFill>
                <a:latin typeface="Calibri"/>
              </a:rPr>
              <a:t>Existing outage-management tools report risk on one screen and track crews on another, but take no action in between — which is where the recoverable minutes are.</a:t>
            </a:r>
          </a:p>
          <a:p>
            <a:pPr marL="0" indent="0">
              <a:buNone/>
            </a:pPr>
            <a:r>
              <a:rPr sz="1600" b="1">
                <a:solidFill>
                  <a:srgbClr val="5583D1"/>
                </a:solidFill>
                <a:latin typeface="Calibri"/>
              </a:rPr>
              <a:t>The gap this project addresses: deciding, automatically and within seconds, which switches to operate so that customers who need no repair are not made to wait for one.</a:t>
            </a: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buClrTx/>
              <a:buSzTx/>
              <a:buFontTx/>
              <a:buNone/>
              <a:tabLst/>
              <a:defRPr/>
            </a:pPr>
            <a:r>
              <a:rPr sz="3200" b="1">
                <a:solidFill>
                  <a:srgbClr val="5B9BD5"/>
                </a:solidFill>
                <a:latin typeface="Calibri"/>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marL="0" indent="0" algn="r">
              <a:buNone/>
            </a:pPr>
            <a:r>
              <a:rPr sz="1600" b="1">
                <a:solidFill>
                  <a:srgbClr val="FFFFFF"/>
                </a:solidFill>
                <a:latin typeface="Calibri"/>
              </a:rPr>
              <a:t>GridRecoveryIQ</a:t>
            </a:r>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502920" y="1325880"/>
            <a:ext cx="10241280" cy="4434840"/>
          </a:xfrm>
        </p:spPr>
        <p:txBody>
          <a:bodyPr wrap="square" lIns="0" rIns="0" anchor="t">
            <a:noAutofit/>
          </a:bodyPr>
          <a:lstStyle/>
          <a:p>
            <a:pPr marL="237744" indent="-237744">
              <a:buChar char="•"/>
            </a:pPr>
            <a:r>
              <a:rPr sz="1600" b="0">
                <a:solidFill>
                  <a:srgbClr val="242424"/>
                </a:solidFill>
                <a:latin typeface="Calibri"/>
              </a:rPr>
              <a:t>Predict section-level outage risk from weather, asset condition and load, calibrated so the probabilities are usable for ranking.</a:t>
            </a:r>
            <a:endParaRPr lang="en-US" sz="2400" b="0" dirty="0">
              <a:solidFill>
                <a:srgbClr val="5583D1"/>
              </a:solidFill>
            </a:endParaRPr>
          </a:p>
          <a:p>
            <a:pPr marL="237744" indent="-237744">
              <a:buChar char="•"/>
            </a:pPr>
            <a:r>
              <a:rPr sz="1600" b="0">
                <a:solidFill>
                  <a:srgbClr val="242424"/>
                </a:solidFill>
                <a:latin typeface="Calibri"/>
              </a:rPr>
              <a:t>On a fault, isolate the smallest faulted zone and restore stranded healthy load by remote switching, subject to neighbouring-feeder capacity.</a:t>
            </a:r>
          </a:p>
          <a:p>
            <a:pPr marL="237744" indent="-237744">
              <a:buChar char="•"/>
            </a:pPr>
            <a:r>
              <a:rPr sz="1600" b="0">
                <a:solidFill>
                  <a:srgbClr val="242424"/>
                </a:solidFill>
                <a:latin typeface="Calibri"/>
              </a:rPr>
              <a:t>Optimise crew dispatch for the residual physical repair against customer-minutes interrupted rather than travel distance.</a:t>
            </a:r>
          </a:p>
          <a:p>
            <a:pPr marL="237744" indent="-237744">
              <a:buChar char="•"/>
            </a:pPr>
            <a:r>
              <a:rPr sz="1600" b="0">
                <a:solidFill>
                  <a:srgbClr val="242424"/>
                </a:solidFill>
                <a:latin typeface="Calibri"/>
              </a:rPr>
              <a:t>Expose every decision with an auditable rationale on a live operations dashboard an operator could actually work from.</a:t>
            </a:r>
          </a:p>
          <a:p>
            <a:pPr marL="237744" indent="-237744">
              <a:buChar char="•"/>
            </a:pPr>
            <a:r>
              <a:rPr sz="1600" b="0">
                <a:solidFill>
                  <a:srgbClr val="242424"/>
                </a:solidFill>
                <a:latin typeface="Calibri"/>
              </a:rPr>
              <a:t>Quantify the benefit against an explicit no-automation counterfactual run in parallel — a measurement, not a claim.</a:t>
            </a:r>
          </a:p>
          <a:p>
            <a:pPr marL="0" indent="0">
              <a:buNone/>
            </a:pPr>
            <a:r>
              <a:rPr sz="1600" b="1">
                <a:solidFill>
                  <a:srgbClr val="5583D1"/>
                </a:solidFill>
                <a:latin typeface="Calibri"/>
              </a:rPr>
              <a:t>Scope: a complete working platform on a synthetic but physically reasoned testbed, not a component study.</a:t>
            </a: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buClrTx/>
              <a:buSzTx/>
              <a:buFontTx/>
              <a:buNone/>
              <a:tabLst/>
              <a:defRPr/>
            </a:pPr>
            <a:r>
              <a:rPr sz="3200" b="1">
                <a:solidFill>
                  <a:srgbClr val="5B9BD5"/>
                </a:solidFill>
                <a:latin typeface="Calibri"/>
              </a:rPr>
              <a:t>Objective</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452DD5-D934-4955-F39B-2109AC72692F}"/>
              </a:ext>
            </a:extLst>
          </p:cNvPr>
          <p:cNvSpPr txBox="1"/>
          <p:nvPr/>
        </p:nvSpPr>
        <p:spPr>
          <a:xfrm>
            <a:off x="6093893" y="57036"/>
            <a:ext cx="6098107" cy="646331"/>
          </a:xfrm>
          <a:prstGeom prst="rect">
            <a:avLst/>
          </a:prstGeom>
          <a:noFill/>
        </p:spPr>
        <p:txBody>
          <a:bodyPr wrap="square" rtlCol="0">
            <a:spAutoFit/>
          </a:bodyPr>
          <a:lstStyle/>
          <a:p>
            <a:pPr marL="0" indent="0" algn="r">
              <a:buNone/>
            </a:pPr>
            <a:r>
              <a:rPr sz="1600" b="1">
                <a:solidFill>
                  <a:srgbClr val="FFFFFF"/>
                </a:solidFill>
                <a:latin typeface="Calibri"/>
              </a:rPr>
              <a:t>GridRecoveryIQ</a:t>
            </a:r>
          </a:p>
        </p:txBody>
      </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502920" y="1325880"/>
            <a:ext cx="10241280" cy="4434840"/>
          </a:xfrm>
        </p:spPr>
        <p:txBody>
          <a:bodyPr wrap="square" lIns="0" rIns="0" anchor="t">
            <a:noAutofit/>
          </a:bodyPr>
          <a:lstStyle/>
          <a:p>
            <a:pPr marL="0" indent="0">
              <a:buNone/>
            </a:pPr>
            <a:r>
              <a:rPr sz="1900" b="1">
                <a:solidFill>
                  <a:srgbClr val="5583D1"/>
                </a:solidFill>
                <a:latin typeface="Calibri"/>
              </a:rPr>
              <a:t>RiskSentinel · ranked exposure before anything fails</a:t>
            </a:r>
          </a:p>
          <a:p>
            <a:pPr marL="237744" indent="-237744">
              <a:buChar char="•"/>
            </a:pPr>
            <a:r>
              <a:rPr sz="1600" b="0">
                <a:solidFill>
                  <a:srgbClr val="242424"/>
                </a:solidFill>
                <a:latin typeface="Calibri"/>
              </a:rPr>
              <a:t>LightGBM binary classifier over 187 sections × 3-hourly blocks — 1.64 M rows at a 0.216% base rate.</a:t>
            </a:r>
          </a:p>
          <a:p>
            <a:pPr marL="237744" indent="-237744">
              <a:buChar char="•"/>
            </a:pPr>
            <a:r>
              <a:rPr sz="1600" b="0">
                <a:solidFill>
                  <a:srgbClr val="242424"/>
                </a:solidFill>
                <a:latin typeface="Calibri"/>
              </a:rPr>
              <a:t>Features: weather exposure, conductor type and age, vegetation index, insulation condition, terrain, load and maintenance history.</a:t>
            </a:r>
          </a:p>
          <a:p>
            <a:pPr marL="237744" indent="-237744">
              <a:buChar char="•"/>
            </a:pPr>
            <a:r>
              <a:rPr sz="1600" b="0">
                <a:solidFill>
                  <a:srgbClr val="242424"/>
                </a:solidFill>
                <a:latin typeface="Calibri"/>
              </a:rPr>
              <a:t>Time-ordered train/validation/test split — no shuffling, no leakage across storm events. Isotonic calibration fitted on validation only.</a:t>
            </a:r>
          </a:p>
          <a:p>
            <a:pPr marL="237744" indent="-237744">
              <a:buChar char="•"/>
            </a:pPr>
            <a:r>
              <a:rPr sz="1600" b="0">
                <a:solidFill>
                  <a:srgbClr val="242424"/>
                </a:solidFill>
                <a:latin typeface="Calibri"/>
              </a:rPr>
              <a:t>Held-out test ROC-AUC 0.804 against an oracle ceiling of 0.841 — 89% of achievable skill; 10.6× lift in the top 1% of sections.</a:t>
            </a:r>
          </a:p>
          <a:p>
            <a:pPr marL="237744" indent="-237744">
              <a:buChar char="•"/>
            </a:pPr>
            <a:r>
              <a:rPr sz="1600" b="0">
                <a:solidFill>
                  <a:srgbClr val="242424"/>
                </a:solidFill>
                <a:latin typeface="Calibri"/>
              </a:rPr>
              <a:t>Per-section drivers from exact TreeSHAP contributions, so every risk number on the dashboard can state what is behind it.</a:t>
            </a: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marL="0" lvl="0" indent="0">
              <a:defRPr/>
            </a:pPr>
            <a:r>
              <a:rPr sz="3200" b="1">
                <a:solidFill>
                  <a:srgbClr val="5B9BD5"/>
                </a:solidFill>
                <a:latin typeface="Calibri"/>
              </a:rPr>
              <a:t>Module 1 — Outage Risk Prediction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6093893" y="57036"/>
            <a:ext cx="6098107" cy="646331"/>
          </a:xfrm>
          <a:prstGeom prst="rect">
            <a:avLst/>
          </a:prstGeom>
          <a:noFill/>
        </p:spPr>
        <p:txBody>
          <a:bodyPr wrap="square" rtlCol="0">
            <a:spAutoFit/>
          </a:bodyPr>
          <a:lstStyle/>
          <a:p>
            <a:pPr marL="0" indent="0" algn="r">
              <a:buNone/>
            </a:pPr>
            <a:r>
              <a:rPr sz="1600" b="1">
                <a:solidFill>
                  <a:srgbClr val="FFFFFF"/>
                </a:solidFill>
                <a:latin typeface="Calibri"/>
              </a:rPr>
              <a:t>GridRecoveryIQ</a:t>
            </a:r>
          </a:p>
        </p:txBody>
      </p:sp>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502920" y="1325880"/>
            <a:ext cx="10241280" cy="4434840"/>
          </a:xfrm>
        </p:spPr>
        <p:txBody>
          <a:bodyPr wrap="square" lIns="0" rIns="0" anchor="t">
            <a:noAutofit/>
          </a:bodyPr>
          <a:lstStyle/>
          <a:p>
            <a:pPr marL="0" indent="0">
              <a:buNone/>
            </a:pPr>
            <a:r>
              <a:rPr sz="1900" b="1">
                <a:solidFill>
                  <a:srgbClr val="5583D1"/>
                </a:solidFill>
                <a:latin typeface="Calibri"/>
              </a:rPr>
              <a:t>SelfHealAgent · the core contribution of this project</a:t>
            </a:r>
          </a:p>
          <a:p>
            <a:pPr marL="237744" indent="-237744">
              <a:buChar char="•"/>
            </a:pPr>
            <a:r>
              <a:rPr sz="1600" b="0">
                <a:solidFill>
                  <a:srgbClr val="242424"/>
                </a:solidFill>
                <a:latin typeface="Calibri"/>
              </a:rPr>
              <a:t>Locate the fault, walk the feeder tree to the nearest sectionalising switch, and isolate the smallest zone that contains it.</a:t>
            </a:r>
          </a:p>
          <a:p>
            <a:pPr marL="237744" indent="-237744">
              <a:buChar char="•"/>
            </a:pPr>
            <a:r>
              <a:rPr sz="1600" b="0">
                <a:solidFill>
                  <a:srgbClr val="242424"/>
                </a:solidFill>
                <a:latin typeface="Calibri"/>
              </a:rPr>
              <a:t>Reclose the breaker so all load upstream of the fault is restored from its own source.</a:t>
            </a:r>
          </a:p>
          <a:p>
            <a:pPr marL="237744" indent="-237744">
              <a:buChar char="•"/>
            </a:pPr>
            <a:r>
              <a:rPr sz="1600" b="0">
                <a:solidFill>
                  <a:srgbClr val="242424"/>
                </a:solidFill>
                <a:latin typeface="Calibri"/>
              </a:rPr>
              <a:t>For each healthy island stranded downstream, enumerate every (tie switch, pickup set) pair that could energise it from a neighbouring feeder.</a:t>
            </a:r>
          </a:p>
          <a:p>
            <a:pPr marL="237744" indent="-237744">
              <a:buChar char="•"/>
            </a:pPr>
            <a:r>
              <a:rPr sz="1600" b="0">
                <a:solidFill>
                  <a:srgbClr val="242424"/>
                </a:solidFill>
                <a:latin typeface="Calibri"/>
              </a:rPr>
              <a:t>CP-SAT maximises criticality-weighted customers restored — one tie per island, each tie used once, every donor feeder held under a 92% loading margin.</a:t>
            </a:r>
          </a:p>
          <a:p>
            <a:pPr marL="237744" indent="-237744">
              <a:buChar char="•"/>
            </a:pPr>
            <a:r>
              <a:rPr sz="1600" b="0">
                <a:solidFill>
                  <a:srgbClr val="242424"/>
                </a:solidFill>
                <a:latin typeface="Calibri"/>
              </a:rPr>
              <a:t>Partial pickup: where an island exceeds donor headroom, open one of its internal switches and shed its lowest value-per-kVA branch. 9 of 187 fault locations require exactly this.</a:t>
            </a:r>
          </a:p>
          <a:p>
            <a:pPr marL="0" indent="0">
              <a:buNone/>
            </a:pPr>
            <a:r>
              <a:rPr sz="1600" b="1">
                <a:solidFill>
                  <a:srgbClr val="5583D1"/>
                </a:solidFill>
                <a:latin typeface="Calibri"/>
              </a:rPr>
              <a:t>Across all 187 sections: 66% of affected customers restored on average (median 77%) in a median of 75 seconds — with no crew involved.</a:t>
            </a: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marL="0" lvl="0" indent="0">
              <a:defRPr/>
            </a:pPr>
            <a:r>
              <a:rPr sz="3200" b="1">
                <a:solidFill>
                  <a:srgbClr val="5B9BD5"/>
                </a:solidFill>
                <a:latin typeface="Calibri"/>
              </a:rPr>
              <a:t>Module 2 — Self-Healing Restoration (FLISR)</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6093893" y="57036"/>
            <a:ext cx="6098107" cy="646331"/>
          </a:xfrm>
          <a:prstGeom prst="rect">
            <a:avLst/>
          </a:prstGeom>
          <a:noFill/>
        </p:spPr>
        <p:txBody>
          <a:bodyPr wrap="square" rtlCol="0">
            <a:spAutoFit/>
          </a:bodyPr>
          <a:lstStyle/>
          <a:p>
            <a:pPr marL="0" indent="0" algn="r">
              <a:buNone/>
            </a:pPr>
            <a:r>
              <a:rPr sz="1600" b="1">
                <a:solidFill>
                  <a:srgbClr val="FFFFFF"/>
                </a:solidFill>
                <a:latin typeface="Calibri"/>
              </a:rPr>
              <a:t>GridRecoveryIQ</a:t>
            </a:r>
          </a:p>
        </p:txBody>
      </p:sp>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502920" y="1325880"/>
            <a:ext cx="10241280" cy="4434840"/>
          </a:xfrm>
        </p:spPr>
        <p:txBody>
          <a:bodyPr wrap="square" lIns="0" rIns="0" anchor="t">
            <a:noAutofit/>
          </a:bodyPr>
          <a:lstStyle/>
          <a:p>
            <a:pPr marL="0" indent="0">
              <a:buNone/>
            </a:pPr>
            <a:r>
              <a:rPr sz="1900" b="1">
                <a:solidFill>
                  <a:srgbClr val="5583D1"/>
                </a:solidFill>
                <a:latin typeface="Calibri"/>
              </a:rPr>
              <a:t>DispatchAgent · optimising the right objective</a:t>
            </a:r>
          </a:p>
          <a:p>
            <a:pPr marL="237744" indent="-237744">
              <a:buChar char="•"/>
            </a:pPr>
            <a:r>
              <a:rPr sz="1600" b="0">
                <a:solidFill>
                  <a:srgbClr val="242424"/>
                </a:solidFill>
                <a:latin typeface="Calibri"/>
              </a:rPr>
              <a:t>The question is not the shortest tour. A utility is judged on customer-minutes, so the model minimises Σ (customers × criticality × completion time).</a:t>
            </a:r>
          </a:p>
          <a:p>
            <a:pPr marL="237744" indent="-237744">
              <a:buChar char="•"/>
            </a:pPr>
            <a:r>
              <a:rPr sz="1600" b="0">
                <a:solidFill>
                  <a:srgbClr val="242424"/>
                </a:solidFill>
                <a:latin typeface="Calibri"/>
              </a:rPr>
              <a:t>Weighted-completion-time VRP solved with CP-SAT: per-crew AddCircuit routing, skill matching, travel-time precedence and a greedy warm start.</a:t>
            </a:r>
          </a:p>
          <a:p>
            <a:pPr marL="237744" indent="-237744">
              <a:buChar char="•"/>
            </a:pPr>
            <a:r>
              <a:rPr sz="1600" b="0">
                <a:solidFill>
                  <a:srgbClr val="242424"/>
                </a:solidFill>
                <a:latin typeface="Calibri"/>
              </a:rPr>
              <a:t>16 jobs / 5 crews — 48.7% better than nearest-qualified-first, proved optimal in 4.9 s.</a:t>
            </a:r>
          </a:p>
          <a:p>
            <a:pPr marL="237744" indent="-237744">
              <a:buChar char="•"/>
            </a:pPr>
            <a:r>
              <a:rPr sz="1600" b="0">
                <a:solidFill>
                  <a:srgbClr val="242424"/>
                </a:solidFill>
                <a:latin typeface="Calibri"/>
              </a:rPr>
              <a:t>30 jobs / 6 crews — 65.2% better, feasible within a 30 s interactive budget.</a:t>
            </a:r>
          </a:p>
          <a:p>
            <a:pPr marL="237744" indent="-237744">
              <a:buChar char="•"/>
            </a:pPr>
            <a:r>
              <a:rPr sz="1600" b="0">
                <a:solidFill>
                  <a:srgbClr val="242424"/>
                </a:solidFill>
                <a:latin typeface="Calibri"/>
              </a:rPr>
              <a:t>Live 4-crew cyclone scenario runs 42–50% better than the dispatcher's rule of thumb. A test asserts the optimiser is never worse than the heuristic it replaces.</a:t>
            </a: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marL="0" lvl="0" indent="0">
              <a:defRPr/>
            </a:pPr>
            <a:r>
              <a:rPr sz="3200" b="1">
                <a:solidFill>
                  <a:srgbClr val="5B9BD5"/>
                </a:solidFill>
                <a:latin typeface="Calibri"/>
              </a:rPr>
              <a:t>Module 3 — Crew Dispatch Optimisation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6093893" y="57036"/>
            <a:ext cx="6098107" cy="646331"/>
          </a:xfrm>
          <a:prstGeom prst="rect">
            <a:avLst/>
          </a:prstGeom>
          <a:noFill/>
        </p:spPr>
        <p:txBody>
          <a:bodyPr wrap="square" rtlCol="0">
            <a:spAutoFit/>
          </a:bodyPr>
          <a:lstStyle/>
          <a:p>
            <a:pPr marL="0" indent="0" algn="r">
              <a:buNone/>
            </a:pPr>
            <a:r>
              <a:rPr sz="1600" b="1">
                <a:solidFill>
                  <a:srgbClr val="FFFFFF"/>
                </a:solidFill>
                <a:latin typeface="Calibri"/>
              </a:rPr>
              <a:t>GridRecoveryIQ</a:t>
            </a:r>
          </a:p>
        </p:txBody>
      </p:sp>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25C8EF-A5DD-AB22-0372-51B9ABE63526}"/>
              </a:ext>
            </a:extLst>
          </p:cNvPr>
          <p:cNvSpPr>
            <a:spLocks noGrp="1"/>
          </p:cNvSpPr>
          <p:nvPr>
            <p:ph type="body" sz="quarter" idx="13"/>
          </p:nvPr>
        </p:nvSpPr>
        <p:spPr>
          <a:xfrm>
            <a:off x="502920" y="1325880"/>
            <a:ext cx="10241280" cy="4434840"/>
          </a:xfrm>
        </p:spPr>
        <p:txBody>
          <a:bodyPr wrap="square" lIns="0" rIns="0" anchor="t">
            <a:noAutofit/>
          </a:bodyPr>
          <a:lstStyle/>
          <a:p>
            <a:pPr marL="0" indent="0">
              <a:buNone/>
            </a:pPr>
            <a:r>
              <a:rPr sz="1900" b="1">
                <a:solidFill>
                  <a:srgbClr val="5583D1"/>
                </a:solidFill>
                <a:latin typeface="Calibri"/>
              </a:rPr>
              <a:t>Testbed</a:t>
            </a:r>
            <a:endParaRPr lang="en-US" sz="2400" b="0" dirty="0">
              <a:solidFill>
                <a:srgbClr val="5583D1"/>
              </a:solidFill>
            </a:endParaRPr>
          </a:p>
          <a:p>
            <a:pPr marL="237744" indent="-237744">
              <a:buChar char="•"/>
            </a:pPr>
            <a:r>
              <a:rPr sz="1600" b="0">
                <a:solidFill>
                  <a:srgbClr val="242424"/>
                </a:solidFill>
                <a:latin typeface="Calibri"/>
              </a:rPr>
              <a:t>Radial 11 kV system over the Vellore region: 4 substations, 11 feeders, 187 switchable sections, 25 tie switches, 64,309 customers, 10 critical sites on real feeder laterals.</a:t>
            </a:r>
          </a:p>
          <a:p>
            <a:pPr marL="0" indent="0">
              <a:buNone/>
            </a:pPr>
            <a:r>
              <a:rPr sz="1900" b="1">
                <a:solidFill>
                  <a:srgbClr val="5583D1"/>
                </a:solidFill>
                <a:latin typeface="Calibri"/>
              </a:rPr>
              <a:t>Hidden hazard design</a:t>
            </a:r>
          </a:p>
          <a:p>
            <a:pPr marL="237744" indent="-237744">
              <a:buChar char="•"/>
            </a:pPr>
            <a:r>
              <a:rPr sz="1600" b="0">
                <a:solidFill>
                  <a:srgbClr val="242424"/>
                </a:solidFill>
                <a:latin typeface="Calibri"/>
              </a:rPr>
              <a:t>Three years of 3-hourly history generated from a physical hazard function — squared wind response gated by vegetation encroachment, lightning gated by insulation condition, soil saturation acting only on underground cable, exponential ageing.</a:t>
            </a:r>
          </a:p>
          <a:p>
            <a:pPr marL="237744" indent="-237744">
              <a:buChar char="•"/>
            </a:pPr>
            <a:r>
              <a:rPr sz="1600" b="0">
                <a:solidFill>
                  <a:srgbClr val="242424"/>
                </a:solidFill>
                <a:latin typeface="Calibri"/>
              </a:rPr>
              <a:t>Storms sampled seasonally and swept across the territory, so faults cluster in space and time the way real outage data does.</a:t>
            </a:r>
          </a:p>
          <a:p>
            <a:pPr marL="237744" indent="-237744">
              <a:buChar char="•"/>
            </a:pPr>
            <a:r>
              <a:rPr sz="1600" b="0">
                <a:solidFill>
                  <a:srgbClr val="242424"/>
                </a:solidFill>
                <a:latin typeface="Calibri"/>
              </a:rPr>
              <a:t>The model observes only measurable features. It never sees the hazard function.</a:t>
            </a:r>
          </a:p>
          <a:p>
            <a:pPr marL="0" indent="0">
              <a:buNone/>
            </a:pPr>
            <a:r>
              <a:rPr sz="1900" b="1">
                <a:solidFill>
                  <a:srgbClr val="5583D1"/>
                </a:solidFill>
                <a:latin typeface="Calibri"/>
              </a:rPr>
              <a:t>Agent contract</a:t>
            </a:r>
          </a:p>
          <a:p>
            <a:pPr marL="237744" indent="-237744">
              <a:buChar char="•"/>
            </a:pPr>
            <a:r>
              <a:rPr sz="1600" b="0">
                <a:solidFill>
                  <a:srgbClr val="242424"/>
                </a:solidFill>
                <a:latin typeface="Calibri"/>
              </a:rPr>
              <a:t>Deterministic engine computes → agent frames the result → LLM narrates. No figure anywhere in the system originates from the language model.</a:t>
            </a:r>
          </a:p>
        </p:txBody>
      </p:sp>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marL="0" lvl="0" indent="0">
              <a:defRPr/>
            </a:pPr>
            <a:r>
              <a:rPr sz="3200" b="1">
                <a:solidFill>
                  <a:srgbClr val="5B9BD5"/>
                </a:solidFill>
                <a:latin typeface="Calibri"/>
              </a:rPr>
              <a:t>Methodology / Modelling Plan</a:t>
            </a: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164B1-01DD-BF3B-88E8-DF2DEDBFA9EB}"/>
              </a:ext>
            </a:extLst>
          </p:cNvPr>
          <p:cNvSpPr txBox="1"/>
          <p:nvPr/>
        </p:nvSpPr>
        <p:spPr>
          <a:xfrm>
            <a:off x="6093893" y="57036"/>
            <a:ext cx="6098107" cy="646331"/>
          </a:xfrm>
          <a:prstGeom prst="rect">
            <a:avLst/>
          </a:prstGeom>
          <a:noFill/>
        </p:spPr>
        <p:txBody>
          <a:bodyPr wrap="square" rtlCol="0">
            <a:spAutoFit/>
          </a:bodyPr>
          <a:lstStyle/>
          <a:p>
            <a:pPr marL="0" indent="0" algn="r">
              <a:buNone/>
            </a:pPr>
            <a:r>
              <a:rPr sz="1600" b="1">
                <a:solidFill>
                  <a:srgbClr val="FFFFFF"/>
                </a:solidFill>
                <a:latin typeface="Calibri"/>
              </a:rPr>
              <a:t>GridRecoveryIQ</a:t>
            </a:r>
          </a:p>
        </p:txBody>
      </p:sp>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F88864-2E71-2992-AD53-E8948837272B}"/>
              </a:ext>
            </a:extLst>
          </p:cNvPr>
          <p:cNvSpPr>
            <a:spLocks noGrp="1"/>
          </p:cNvSpPr>
          <p:nvPr>
            <p:ph type="body" sz="quarter" idx="13"/>
          </p:nvPr>
        </p:nvSpPr>
        <p:spPr>
          <a:xfrm>
            <a:off x="502920" y="1325880"/>
            <a:ext cx="10241280" cy="4434840"/>
          </a:xfrm>
        </p:spPr>
        <p:txBody>
          <a:bodyPr wrap="square" lIns="0" rIns="0" anchor="t">
            <a:noAutofit/>
          </a:bodyPr>
          <a:lstStyle/>
          <a:p>
            <a:pPr marL="237744" indent="-237744">
              <a:buChar char="•"/>
            </a:pPr>
            <a:r>
              <a:rPr sz="1600" b="0">
                <a:solidFill>
                  <a:srgbClr val="242424"/>
                </a:solidFill>
                <a:latin typeface="Calibri"/>
              </a:rPr>
              <a:t>Panel of 1.64 M section × time rows carrying 2,550 outage events (~850/yr) at a 0.216% base rate — severe class imbalance, handled by ranking metrics rather than accuracy.</a:t>
            </a:r>
            <a:endParaRPr lang="en-US" sz="2400" b="0" dirty="0">
              <a:solidFill>
                <a:srgbClr val="5583D1"/>
              </a:solidFill>
            </a:endParaRPr>
          </a:p>
          <a:p>
            <a:pPr marL="237744" indent="-237744">
              <a:buChar char="•"/>
            </a:pPr>
            <a:r>
              <a:rPr sz="1600" b="0">
                <a:solidFill>
                  <a:srgbClr val="242424"/>
                </a:solidFill>
                <a:latin typeface="Calibri"/>
              </a:rPr>
              <a:t>Chronological split by time with no shuffling, so no storm event spans train and test.</a:t>
            </a:r>
          </a:p>
          <a:p>
            <a:pPr marL="237744" indent="-237744">
              <a:buChar char="•"/>
            </a:pPr>
            <a:r>
              <a:rPr sz="1600" b="0">
                <a:solidFill>
                  <a:srgbClr val="242424"/>
                </a:solidFill>
                <a:latin typeface="Calibri"/>
              </a:rPr>
              <a:t>Isotonic calibration fitted on validation only; held-out Brier score 0.002141 against an oracle 0.002134 — within 0.3% of optimal calibration.</a:t>
            </a:r>
          </a:p>
          <a:p>
            <a:pPr marL="237744" indent="-237744">
              <a:buChar char="•"/>
            </a:pPr>
            <a:r>
              <a:rPr sz="1600" b="0">
                <a:solidFill>
                  <a:srgbClr val="242424"/>
                </a:solidFill>
                <a:latin typeface="Calibri"/>
              </a:rPr>
              <a:t>Parquet columnar storage for the panel; generation is fully seeded, so any rebuild reproduces the same network, the same history and the same model scores.</a:t>
            </a:r>
          </a:p>
          <a:p>
            <a:pPr marL="0" indent="0">
              <a:buNone/>
            </a:pPr>
            <a:r>
              <a:rPr sz="1900" b="1">
                <a:solidFill>
                  <a:srgbClr val="5583D1"/>
                </a:solidFill>
                <a:latin typeface="Calibri"/>
              </a:rPr>
              <a:t>Data provenance — stated explicitly</a:t>
            </a:r>
          </a:p>
          <a:p>
            <a:pPr marL="0" indent="0">
              <a:buNone/>
            </a:pPr>
            <a:r>
              <a:rPr sz="1500" b="0">
                <a:solidFill>
                  <a:srgbClr val="242424"/>
                </a:solidFill>
                <a:latin typeface="Calibri"/>
              </a:rPr>
              <a:t>The network and outage history are synthetic. Only the geographic centre and the monthly climatology of the Vellore region are drawn from reality. No real utility data is used, and no claim is made about any operating network. The synthetic design is deliberate: because the true hazard is known, the model can be scored against an oracle ceiling — a benchmark that cannot exist on real data.</a:t>
            </a:r>
          </a:p>
        </p:txBody>
      </p:sp>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marL="0" lvl="0" indent="0">
              <a:defRPr/>
            </a:pPr>
            <a:r>
              <a:rPr sz="3200" b="1">
                <a:solidFill>
                  <a:srgbClr val="5B9BD5"/>
                </a:solidFill>
                <a:latin typeface="Calibri"/>
              </a:rPr>
              <a:t>Data Preprocessing &amp; EDA</a:t>
            </a: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6093893" y="57036"/>
            <a:ext cx="6098107" cy="646331"/>
          </a:xfrm>
          <a:prstGeom prst="rect">
            <a:avLst/>
          </a:prstGeom>
          <a:noFill/>
        </p:spPr>
        <p:txBody>
          <a:bodyPr wrap="square" rtlCol="0">
            <a:spAutoFit/>
          </a:bodyPr>
          <a:lstStyle/>
          <a:p>
            <a:pPr marL="0" indent="0" algn="r">
              <a:buNone/>
            </a:pPr>
            <a:r>
              <a:rPr sz="1600" b="1">
                <a:solidFill>
                  <a:srgbClr val="FFFFFF"/>
                </a:solidFill>
                <a:latin typeface="Calibri"/>
              </a:rPr>
              <a:t>GridRecoveryIQ</a:t>
            </a:r>
          </a:p>
        </p:txBody>
      </p: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675-E694-7663-D55C-2461C40B8B8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E433592-8155-CD6F-B5E3-78AB52F31DE6}"/>
              </a:ext>
            </a:extLst>
          </p:cNvPr>
          <p:cNvSpPr>
            <a:spLocks noGrp="1"/>
          </p:cNvSpPr>
          <p:nvPr>
            <p:ph type="body" sz="quarter" idx="13"/>
          </p:nvPr>
        </p:nvSpPr>
        <p:spPr>
          <a:xfrm>
            <a:off x="502920" y="1325880"/>
            <a:ext cx="10241280" cy="4434840"/>
          </a:xfrm>
        </p:spPr>
        <p:txBody>
          <a:bodyPr wrap="square" lIns="0" rIns="0" anchor="t">
            <a:noAutofit/>
          </a:bodyPr>
          <a:lstStyle/>
          <a:p>
            <a:pPr marL="0" indent="0">
              <a:buNone/>
            </a:pPr>
            <a:r>
              <a:rPr sz="1600" b="1">
                <a:solidFill>
                  <a:srgbClr val="5583D1"/>
                </a:solidFill>
                <a:latin typeface="Calibri"/>
              </a:rPr>
              <a:t>Prediction</a:t>
            </a:r>
            <a:endParaRPr lang="en-US" sz="2400" b="0" dirty="0">
              <a:solidFill>
                <a:srgbClr val="5583D1"/>
              </a:solidFill>
            </a:endParaRPr>
          </a:p>
          <a:p>
            <a:pPr marL="237744" indent="-237744">
              <a:buChar char="•"/>
            </a:pPr>
            <a:r>
              <a:rPr sz="1600" b="0">
                <a:solidFill>
                  <a:srgbClr val="242424"/>
                </a:solidFill>
                <a:latin typeface="Calibri"/>
              </a:rPr>
              <a:t>LightGBM gradient-boosted trees · scikit-learn isotonic calibration and metrics · exact TreeSHAP attribution</a:t>
            </a:r>
          </a:p>
          <a:p>
            <a:pPr marL="0" indent="0">
              <a:buNone/>
            </a:pPr>
            <a:r>
              <a:rPr sz="1600" b="1">
                <a:solidFill>
                  <a:srgbClr val="5583D1"/>
                </a:solidFill>
                <a:latin typeface="Calibri"/>
              </a:rPr>
              <a:t>Optimisation</a:t>
            </a:r>
          </a:p>
          <a:p>
            <a:pPr marL="237744" indent="-237744">
              <a:buChar char="•"/>
            </a:pPr>
            <a:r>
              <a:rPr sz="1600" b="0">
                <a:solidFill>
                  <a:srgbClr val="242424"/>
                </a:solidFill>
                <a:latin typeface="Calibri"/>
              </a:rPr>
              <a:t>Google OR-Tools CP-SAT, used for both problems — tie-switch selection under capacity, and weighted-completion-time crew routing</a:t>
            </a:r>
          </a:p>
          <a:p>
            <a:pPr marL="0" indent="0">
              <a:buNone/>
            </a:pPr>
            <a:r>
              <a:rPr sz="1600" b="1">
                <a:solidFill>
                  <a:srgbClr val="5583D1"/>
                </a:solidFill>
                <a:latin typeface="Calibri"/>
              </a:rPr>
              <a:t>Grid model</a:t>
            </a:r>
          </a:p>
          <a:p>
            <a:pPr marL="237744" indent="-237744">
              <a:buChar char="•"/>
            </a:pPr>
            <a:r>
              <a:rPr sz="1600" b="0">
                <a:solidFill>
                  <a:srgbClr val="242424"/>
                </a:solidFill>
                <a:latin typeface="Calibri"/>
              </a:rPr>
              <a:t>NetworkX — radial feeder trees, upstream/downstream traversal, island detection after switching</a:t>
            </a:r>
          </a:p>
          <a:p>
            <a:pPr marL="0" indent="0">
              <a:buNone/>
            </a:pPr>
            <a:r>
              <a:rPr sz="1600" b="1">
                <a:solidFill>
                  <a:srgbClr val="5583D1"/>
                </a:solidFill>
                <a:latin typeface="Calibri"/>
              </a:rPr>
              <a:t>Data &amp; service</a:t>
            </a:r>
          </a:p>
          <a:p>
            <a:pPr marL="237744" indent="-237744">
              <a:buChar char="•"/>
            </a:pPr>
            <a:r>
              <a:rPr sz="1600" b="0">
                <a:solidFill>
                  <a:srgbClr val="242424"/>
                </a:solidFill>
                <a:latin typeface="Calibri"/>
              </a:rPr>
              <a:t>NumPy · pandas · PyArrow/Parquet · FastAPI with Server-Sent Events · Pydantic · Uvicorn</a:t>
            </a:r>
          </a:p>
          <a:p>
            <a:pPr marL="0" indent="0">
              <a:buNone/>
            </a:pPr>
            <a:r>
              <a:rPr sz="1600" b="1">
                <a:solidFill>
                  <a:srgbClr val="5583D1"/>
                </a:solidFill>
                <a:latin typeface="Calibri"/>
              </a:rPr>
              <a:t>Dashboard &amp; narration</a:t>
            </a:r>
          </a:p>
          <a:p>
            <a:pPr marL="237744" indent="-237744">
              <a:buChar char="•"/>
            </a:pPr>
            <a:r>
              <a:rPr sz="1600" b="0">
                <a:solidFill>
                  <a:srgbClr val="242424"/>
                </a:solidFill>
                <a:latin typeface="Calibri"/>
              </a:rPr>
              <a:t>HTML Canvas and vanilla JavaScript — no charting library, no tile service, nothing loaded from a CDN · optional Groq / Gemini / Ollama narration via httpx, with deterministic templates offline</a:t>
            </a:r>
          </a:p>
          <a:p>
            <a:pPr marL="0" indent="0">
              <a:buNone/>
            </a:pPr>
            <a:r>
              <a:rPr sz="1600" b="1">
                <a:solidFill>
                  <a:srgbClr val="5583D1"/>
                </a:solidFill>
                <a:latin typeface="Calibri"/>
              </a:rPr>
              <a:t>Verification</a:t>
            </a:r>
          </a:p>
          <a:p>
            <a:pPr marL="237744" indent="-237744">
              <a:buChar char="•"/>
            </a:pPr>
            <a:r>
              <a:rPr sz="1600" b="0">
                <a:solidFill>
                  <a:srgbClr val="242424"/>
                </a:solidFill>
                <a:latin typeface="Calibri"/>
              </a:rPr>
              <a:t>pytest — 23 invariant tests asserting properties a real bug would break, including that the model never beats its own oracle</a:t>
            </a:r>
          </a:p>
        </p:txBody>
      </p:sp>
      <p:sp>
        <p:nvSpPr>
          <p:cNvPr id="3" name="TextBox 2">
            <a:extLst>
              <a:ext uri="{FF2B5EF4-FFF2-40B4-BE49-F238E27FC236}">
                <a16:creationId xmlns:a16="http://schemas.microsoft.com/office/drawing/2014/main" id="{3D243BDD-B44E-04F0-FA93-336DD2FFA770}"/>
              </a:ext>
            </a:extLst>
          </p:cNvPr>
          <p:cNvSpPr txBox="1"/>
          <p:nvPr/>
        </p:nvSpPr>
        <p:spPr>
          <a:xfrm>
            <a:off x="255996" y="502545"/>
            <a:ext cx="10624338" cy="646331"/>
          </a:xfrm>
          <a:prstGeom prst="rect">
            <a:avLst/>
          </a:prstGeom>
          <a:noFill/>
        </p:spPr>
        <p:txBody>
          <a:bodyPr wrap="square" rtlCol="0">
            <a:spAutoFit/>
          </a:bodyPr>
          <a:lstStyle/>
          <a:p>
            <a:pPr marL="0" lvl="0" indent="0">
              <a:defRPr/>
            </a:pPr>
            <a:r>
              <a:rPr sz="3200" b="1">
                <a:solidFill>
                  <a:srgbClr val="5B9BD5"/>
                </a:solidFill>
                <a:latin typeface="Calibri"/>
              </a:rPr>
              <a:t>Approach, Algorithms &amp; Tools</a:t>
            </a:r>
          </a:p>
        </p:txBody>
      </p:sp>
      <p:cxnSp>
        <p:nvCxnSpPr>
          <p:cNvPr id="5" name="Straight Connector 4">
            <a:extLst>
              <a:ext uri="{FF2B5EF4-FFF2-40B4-BE49-F238E27FC236}">
                <a16:creationId xmlns:a16="http://schemas.microsoft.com/office/drawing/2014/main" id="{14963133-FFA1-7CF4-9FAD-E6A120EF423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EA3EC9D-D5AF-E54C-A3D0-5E42F32DC03B}"/>
              </a:ext>
            </a:extLst>
          </p:cNvPr>
          <p:cNvSpPr txBox="1"/>
          <p:nvPr/>
        </p:nvSpPr>
        <p:spPr>
          <a:xfrm>
            <a:off x="6093893" y="57036"/>
            <a:ext cx="6098107" cy="646331"/>
          </a:xfrm>
          <a:prstGeom prst="rect">
            <a:avLst/>
          </a:prstGeom>
          <a:noFill/>
        </p:spPr>
        <p:txBody>
          <a:bodyPr wrap="square" rtlCol="0">
            <a:spAutoFit/>
          </a:bodyPr>
          <a:lstStyle/>
          <a:p>
            <a:pPr marL="0" indent="0" algn="r">
              <a:buNone/>
            </a:pPr>
            <a:r>
              <a:rPr sz="1600" b="1">
                <a:solidFill>
                  <a:srgbClr val="FFFFFF"/>
                </a:solidFill>
                <a:latin typeface="Calibri"/>
              </a:rPr>
              <a:t>GridRecoveryIQ</a:t>
            </a:r>
          </a:p>
        </p:txBody>
      </p:sp>
    </p:spTree>
    <p:extLst>
      <p:ext uri="{BB962C8B-B14F-4D97-AF65-F5344CB8AC3E}">
        <p14:creationId xmlns:p14="http://schemas.microsoft.com/office/powerpoint/2010/main" val="10794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9A058-E477-163A-1B3E-61A05B0F38B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A69BAD7-4402-029D-94EE-84728E7A1B97}"/>
              </a:ext>
            </a:extLst>
          </p:cNvPr>
          <p:cNvSpPr>
            <a:spLocks noGrp="1"/>
          </p:cNvSpPr>
          <p:nvPr>
            <p:ph type="body" sz="quarter" idx="13"/>
          </p:nvPr>
        </p:nvSpPr>
        <p:spPr>
          <a:xfrm>
            <a:off x="502920" y="1325880"/>
            <a:ext cx="10241280" cy="4434840"/>
          </a:xfrm>
        </p:spPr>
        <p:txBody>
          <a:bodyPr wrap="square" lIns="0" rIns="0" anchor="t">
            <a:noAutofit/>
          </a:bodyPr>
          <a:lstStyle/>
          <a:p>
            <a:pPr marL="0" indent="0">
              <a:buNone/>
            </a:pPr>
            <a:r>
              <a:rPr sz="1600" b="1">
                <a:solidFill>
                  <a:srgbClr val="5583D1"/>
                </a:solidFill>
                <a:latin typeface="Calibri"/>
              </a:rPr>
              <a:t>Completed for Review II</a:t>
            </a:r>
            <a:endParaRPr lang="en-US" sz="2400" b="0" dirty="0">
              <a:solidFill>
                <a:srgbClr val="5583D1"/>
              </a:solidFill>
            </a:endParaRPr>
          </a:p>
          <a:p>
            <a:pPr marL="237744" indent="-237744">
              <a:buChar char="•"/>
            </a:pPr>
            <a:r>
              <a:rPr sz="1600" b="0">
                <a:solidFill>
                  <a:srgbClr val="242424"/>
                </a:solidFill>
                <a:latin typeface="Calibri"/>
              </a:rPr>
              <a:t>Network generator, hidden hazard model and three-year synthetic history</a:t>
            </a:r>
          </a:p>
          <a:p>
            <a:pPr marL="237744" indent="-237744">
              <a:buChar char="•"/>
            </a:pPr>
            <a:r>
              <a:rPr sz="1600" b="0">
                <a:solidFill>
                  <a:srgbClr val="242424"/>
                </a:solidFill>
                <a:latin typeface="Calibri"/>
              </a:rPr>
              <a:t>Risk model with oracle benchmark, time-ordered split and isotonic calibration</a:t>
            </a:r>
          </a:p>
          <a:p>
            <a:pPr marL="237744" indent="-237744">
              <a:buChar char="•"/>
            </a:pPr>
            <a:r>
              <a:rPr sz="1600" b="0">
                <a:solidFill>
                  <a:srgbClr val="242424"/>
                </a:solidFill>
                <a:latin typeface="Calibri"/>
              </a:rPr>
              <a:t>FLISR engine — isolation, islanding, CP-SAT tie transfer, partial pickup</a:t>
            </a:r>
          </a:p>
          <a:p>
            <a:pPr marL="237744" indent="-237744">
              <a:buChar char="•"/>
            </a:pPr>
            <a:r>
              <a:rPr sz="1600" b="0">
                <a:solidFill>
                  <a:srgbClr val="242424"/>
                </a:solidFill>
                <a:latin typeface="Calibri"/>
              </a:rPr>
              <a:t>Crew dispatch optimiser with nearest-first baseline for comparison</a:t>
            </a:r>
          </a:p>
          <a:p>
            <a:pPr marL="237744" indent="-237744">
              <a:buChar char="•"/>
            </a:pPr>
            <a:r>
              <a:rPr sz="1600" b="0">
                <a:solidFill>
                  <a:srgbClr val="242424"/>
                </a:solidFill>
                <a:latin typeface="Calibri"/>
              </a:rPr>
              <a:t>Live control-room dashboard, five-agent layer, 23 invariant tests passing</a:t>
            </a:r>
          </a:p>
          <a:p>
            <a:pPr marL="0" indent="0">
              <a:buNone/>
            </a:pPr>
            <a:r>
              <a:rPr sz="1600" b="1">
                <a:solidFill>
                  <a:srgbClr val="5583D1"/>
                </a:solidFill>
                <a:latin typeface="Calibri"/>
              </a:rPr>
              <a:t>Planned before final review</a:t>
            </a:r>
          </a:p>
          <a:p>
            <a:pPr marL="237744" indent="-237744">
              <a:buChar char="•"/>
            </a:pPr>
            <a:r>
              <a:rPr sz="1600" b="0">
                <a:solidFill>
                  <a:srgbClr val="242424"/>
                </a:solidFill>
                <a:latin typeface="Calibri"/>
              </a:rPr>
              <a:t>Replace the kVA headroom proxy with an unbalanced load-flow check before committing a transfer</a:t>
            </a:r>
          </a:p>
          <a:p>
            <a:pPr marL="237744" indent="-237744">
              <a:buChar char="•"/>
            </a:pPr>
            <a:r>
              <a:rPr sz="1600" b="0">
                <a:solidFill>
                  <a:srgbClr val="242424"/>
                </a:solidFill>
                <a:latin typeface="Calibri"/>
              </a:rPr>
              <a:t>Re-plan against current switching state for simultaneous faults on one feeder</a:t>
            </a:r>
          </a:p>
          <a:p>
            <a:pPr marL="237744" indent="-237744">
              <a:buChar char="•"/>
            </a:pPr>
            <a:r>
              <a:rPr sz="1600" b="0">
                <a:solidFill>
                  <a:srgbClr val="242424"/>
                </a:solidFill>
                <a:latin typeface="Calibri"/>
              </a:rPr>
              <a:t>Learn repair-time distributions from work-order data rather than assuming them</a:t>
            </a:r>
          </a:p>
          <a:p>
            <a:pPr marL="237744" indent="-237744">
              <a:buChar char="•"/>
            </a:pPr>
            <a:r>
              <a:rPr sz="1600" b="0">
                <a:solidFill>
                  <a:srgbClr val="242424"/>
                </a:solidFill>
                <a:latin typeface="Calibri"/>
              </a:rPr>
              <a:t>Sensitivity study across storm severities and tie-switch densities</a:t>
            </a:r>
          </a:p>
        </p:txBody>
      </p:sp>
      <p:sp>
        <p:nvSpPr>
          <p:cNvPr id="3" name="TextBox 2">
            <a:extLst>
              <a:ext uri="{FF2B5EF4-FFF2-40B4-BE49-F238E27FC236}">
                <a16:creationId xmlns:a16="http://schemas.microsoft.com/office/drawing/2014/main" id="{E8F67352-6E77-1E87-24B7-ED7906E0679C}"/>
              </a:ext>
            </a:extLst>
          </p:cNvPr>
          <p:cNvSpPr txBox="1"/>
          <p:nvPr/>
        </p:nvSpPr>
        <p:spPr>
          <a:xfrm>
            <a:off x="255996" y="502545"/>
            <a:ext cx="10624338" cy="646331"/>
          </a:xfrm>
          <a:prstGeom prst="rect">
            <a:avLst/>
          </a:prstGeom>
          <a:noFill/>
        </p:spPr>
        <p:txBody>
          <a:bodyPr wrap="square" rtlCol="0">
            <a:spAutoFit/>
          </a:bodyPr>
          <a:lstStyle/>
          <a:p>
            <a:pPr marL="0" lvl="0" indent="0">
              <a:defRPr/>
            </a:pPr>
            <a:r>
              <a:rPr sz="3200" b="1">
                <a:solidFill>
                  <a:srgbClr val="5B9BD5"/>
                </a:solidFill>
                <a:latin typeface="Calibri"/>
              </a:rPr>
              <a:t>Project Plan &amp; Milestone Progress</a:t>
            </a:r>
          </a:p>
        </p:txBody>
      </p:sp>
      <p:cxnSp>
        <p:nvCxnSpPr>
          <p:cNvPr id="5" name="Straight Connector 4">
            <a:extLst>
              <a:ext uri="{FF2B5EF4-FFF2-40B4-BE49-F238E27FC236}">
                <a16:creationId xmlns:a16="http://schemas.microsoft.com/office/drawing/2014/main" id="{564F4198-C244-16A7-B796-A2E4B5EA6A81}"/>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C26B487-77E4-5D5B-7416-E64E3C867A98}"/>
              </a:ext>
            </a:extLst>
          </p:cNvPr>
          <p:cNvSpPr txBox="1"/>
          <p:nvPr/>
        </p:nvSpPr>
        <p:spPr>
          <a:xfrm>
            <a:off x="6093893" y="57036"/>
            <a:ext cx="6098107" cy="646331"/>
          </a:xfrm>
          <a:prstGeom prst="rect">
            <a:avLst/>
          </a:prstGeom>
          <a:noFill/>
        </p:spPr>
        <p:txBody>
          <a:bodyPr wrap="square" rtlCol="0">
            <a:spAutoFit/>
          </a:bodyPr>
          <a:lstStyle/>
          <a:p>
            <a:pPr marL="0" indent="0" algn="r">
              <a:buNone/>
            </a:pPr>
            <a:r>
              <a:rPr sz="1600" b="1">
                <a:solidFill>
                  <a:srgbClr val="FFFFFF"/>
                </a:solidFill>
                <a:latin typeface="Calibri"/>
              </a:rPr>
              <a:t>GridRecoveryIQ</a:t>
            </a:r>
          </a:p>
        </p:txBody>
      </p:sp>
    </p:spTree>
    <p:extLst>
      <p:ext uri="{BB962C8B-B14F-4D97-AF65-F5344CB8AC3E}">
        <p14:creationId xmlns:p14="http://schemas.microsoft.com/office/powerpoint/2010/main" val="2501109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5BBC5-46B5-0DF4-A2AC-5289D29573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BEA9949-295E-B2C7-8E3A-639B0AD48F51}"/>
              </a:ext>
            </a:extLst>
          </p:cNvPr>
          <p:cNvSpPr txBox="1"/>
          <p:nvPr/>
        </p:nvSpPr>
        <p:spPr>
          <a:xfrm>
            <a:off x="255996" y="502545"/>
            <a:ext cx="10624338" cy="646331"/>
          </a:xfrm>
          <a:prstGeom prst="rect">
            <a:avLst/>
          </a:prstGeom>
          <a:noFill/>
        </p:spPr>
        <p:txBody>
          <a:bodyPr wrap="square" rtlCol="0">
            <a:spAutoFit/>
          </a:bodyPr>
          <a:lstStyle/>
          <a:p>
            <a:pPr marL="0" lvl="0" indent="0">
              <a:defRPr/>
            </a:pPr>
            <a:r>
              <a:rPr sz="3200" b="1">
                <a:solidFill>
                  <a:srgbClr val="5B9BD5"/>
                </a:solidFill>
                <a:latin typeface="Calibri"/>
              </a:rPr>
              <a:t>Pipeline Structure</a:t>
            </a:r>
          </a:p>
        </p:txBody>
      </p:sp>
      <p:cxnSp>
        <p:nvCxnSpPr>
          <p:cNvPr id="5" name="Straight Connector 4">
            <a:extLst>
              <a:ext uri="{FF2B5EF4-FFF2-40B4-BE49-F238E27FC236}">
                <a16:creationId xmlns:a16="http://schemas.microsoft.com/office/drawing/2014/main" id="{1C3477A6-BED1-8211-5527-9030F1E8694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B5AC1E1-8B68-1019-1B7A-0CF7BDC8B3EC}"/>
              </a:ext>
            </a:extLst>
          </p:cNvPr>
          <p:cNvSpPr txBox="1"/>
          <p:nvPr/>
        </p:nvSpPr>
        <p:spPr>
          <a:xfrm>
            <a:off x="6093893" y="57036"/>
            <a:ext cx="6098107" cy="646331"/>
          </a:xfrm>
          <a:prstGeom prst="rect">
            <a:avLst/>
          </a:prstGeom>
          <a:noFill/>
        </p:spPr>
        <p:txBody>
          <a:bodyPr wrap="square" rtlCol="0">
            <a:spAutoFit/>
          </a:bodyPr>
          <a:lstStyle/>
          <a:p>
            <a:pPr marL="0" indent="0" algn="r">
              <a:buNone/>
            </a:pPr>
            <a:r>
              <a:rPr sz="1600" b="1">
                <a:solidFill>
                  <a:srgbClr val="FFFFFF"/>
                </a:solidFill>
                <a:latin typeface="Calibri"/>
              </a:rPr>
              <a:t>GridRecoveryIQ</a:t>
            </a:r>
          </a:p>
        </p:txBody>
      </p:sp>
      <p:sp>
        <p:nvSpPr>
          <p:cNvPr id="7" name="TextBox 6"/>
          <p:cNvSpPr txBox="1"/>
          <p:nvPr/>
        </p:nvSpPr>
        <p:spPr>
          <a:xfrm>
            <a:off x="502920" y="1298448"/>
            <a:ext cx="3657600" cy="237744"/>
          </a:xfrm>
          <a:prstGeom prst="rect">
            <a:avLst/>
          </a:prstGeom>
          <a:noFill/>
        </p:spPr>
        <p:txBody>
          <a:bodyPr wrap="square" lIns="0" tIns="0" rIns="0" bIns="0">
            <a:spAutoFit/>
          </a:bodyPr>
          <a:lstStyle/>
          <a:p>
            <a:pPr marL="0" indent="0" algn="l">
              <a:buNone/>
            </a:pPr>
            <a:r>
              <a:rPr sz="1100" b="1">
                <a:solidFill>
                  <a:srgbClr val="5A5A5A"/>
                </a:solidFill>
                <a:latin typeface="Calibri"/>
              </a:rPr>
              <a:t>OFFLINE  ·  build and train</a:t>
            </a:r>
          </a:p>
        </p:txBody>
      </p:sp>
      <p:sp>
        <p:nvSpPr>
          <p:cNvPr id="8" name="Rounded Rectangle 7"/>
          <p:cNvSpPr/>
          <p:nvPr/>
        </p:nvSpPr>
        <p:spPr>
          <a:xfrm>
            <a:off x="502920" y="1591056"/>
            <a:ext cx="2057400" cy="566928"/>
          </a:xfrm>
          <a:prstGeom prst="roundRect">
            <a:avLst/>
          </a:prstGeom>
          <a:solidFill>
            <a:srgbClr val="E8EFF8"/>
          </a:solidFill>
          <a:ln>
            <a:solidFill>
              <a:srgbClr val="E8EFF8"/>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marL="0" indent="0" algn="ctr">
              <a:buNone/>
            </a:pPr>
            <a:r>
              <a:rPr sz="1300" b="1">
                <a:solidFill>
                  <a:srgbClr val="1E3355"/>
                </a:solidFill>
                <a:latin typeface="Calibri"/>
              </a:rPr>
              <a:t>Network generator</a:t>
            </a:r>
          </a:p>
          <a:p>
            <a:pPr marL="0" indent="0" algn="ctr">
              <a:buNone/>
            </a:pPr>
            <a:r>
              <a:rPr sz="1000" b="0">
                <a:solidFill>
                  <a:srgbClr val="1E3355"/>
                </a:solidFill>
                <a:latin typeface="Calibri"/>
              </a:rPr>
              <a:t>187 sections · 25 ties</a:t>
            </a:r>
          </a:p>
        </p:txBody>
      </p:sp>
      <p:sp>
        <p:nvSpPr>
          <p:cNvPr id="9" name="Right Arrow 8"/>
          <p:cNvSpPr/>
          <p:nvPr/>
        </p:nvSpPr>
        <p:spPr>
          <a:xfrm>
            <a:off x="2633472" y="1801368"/>
            <a:ext cx="274320" cy="155448"/>
          </a:xfrm>
          <a:prstGeom prst="rightArrow">
            <a:avLst/>
          </a:prstGeom>
          <a:solidFill>
            <a:srgbClr val="A8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980944" y="1591056"/>
            <a:ext cx="2057400" cy="566928"/>
          </a:xfrm>
          <a:prstGeom prst="roundRect">
            <a:avLst/>
          </a:prstGeom>
          <a:solidFill>
            <a:srgbClr val="E8EFF8"/>
          </a:solidFill>
          <a:ln>
            <a:solidFill>
              <a:srgbClr val="E8EFF8"/>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marL="0" indent="0" algn="ctr">
              <a:buNone/>
            </a:pPr>
            <a:r>
              <a:rPr sz="1300" b="1">
                <a:solidFill>
                  <a:srgbClr val="1E3355"/>
                </a:solidFill>
                <a:latin typeface="Calibri"/>
              </a:rPr>
              <a:t>Hidden hazard model</a:t>
            </a:r>
          </a:p>
          <a:p>
            <a:pPr marL="0" indent="0" algn="ctr">
              <a:buNone/>
            </a:pPr>
            <a:r>
              <a:rPr sz="1000" b="0">
                <a:solidFill>
                  <a:srgbClr val="1E3355"/>
                </a:solidFill>
                <a:latin typeface="Calibri"/>
              </a:rPr>
              <a:t>3 yr · 1.64 M rows</a:t>
            </a:r>
          </a:p>
        </p:txBody>
      </p:sp>
      <p:sp>
        <p:nvSpPr>
          <p:cNvPr id="11" name="Right Arrow 10"/>
          <p:cNvSpPr/>
          <p:nvPr/>
        </p:nvSpPr>
        <p:spPr>
          <a:xfrm>
            <a:off x="5111496" y="1801368"/>
            <a:ext cx="274320" cy="155448"/>
          </a:xfrm>
          <a:prstGeom prst="rightArrow">
            <a:avLst/>
          </a:prstGeom>
          <a:solidFill>
            <a:srgbClr val="A8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458968" y="1591056"/>
            <a:ext cx="2057400" cy="566928"/>
          </a:xfrm>
          <a:prstGeom prst="roundRect">
            <a:avLst/>
          </a:prstGeom>
          <a:solidFill>
            <a:srgbClr val="E8EFF8"/>
          </a:solidFill>
          <a:ln>
            <a:solidFill>
              <a:srgbClr val="E8EFF8"/>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marL="0" indent="0" algn="ctr">
              <a:buNone/>
            </a:pPr>
            <a:r>
              <a:rPr sz="1300" b="1">
                <a:solidFill>
                  <a:srgbClr val="1E3355"/>
                </a:solidFill>
                <a:latin typeface="Calibri"/>
              </a:rPr>
              <a:t>LightGBM + calibration</a:t>
            </a:r>
          </a:p>
          <a:p>
            <a:pPr marL="0" indent="0" algn="ctr">
              <a:buNone/>
            </a:pPr>
            <a:r>
              <a:rPr sz="1000" b="0">
                <a:solidFill>
                  <a:srgbClr val="1E3355"/>
                </a:solidFill>
                <a:latin typeface="Calibri"/>
              </a:rPr>
              <a:t>AUC 0.804 / ceiling 0.841</a:t>
            </a:r>
          </a:p>
        </p:txBody>
      </p:sp>
      <p:sp>
        <p:nvSpPr>
          <p:cNvPr id="13" name="Right Arrow 12"/>
          <p:cNvSpPr/>
          <p:nvPr/>
        </p:nvSpPr>
        <p:spPr>
          <a:xfrm>
            <a:off x="7589520" y="1801368"/>
            <a:ext cx="274320" cy="155448"/>
          </a:xfrm>
          <a:prstGeom prst="rightArrow">
            <a:avLst/>
          </a:prstGeom>
          <a:solidFill>
            <a:srgbClr val="A8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936992" y="1591056"/>
            <a:ext cx="2057400" cy="566928"/>
          </a:xfrm>
          <a:prstGeom prst="roundRect">
            <a:avLst/>
          </a:prstGeom>
          <a:solidFill>
            <a:srgbClr val="5B9BD5"/>
          </a:solidFill>
          <a:ln>
            <a:solidFill>
              <a:srgbClr val="5B9BD5"/>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marL="0" indent="0" algn="ctr">
              <a:buNone/>
            </a:pPr>
            <a:r>
              <a:rPr sz="1300" b="1">
                <a:solidFill>
                  <a:srgbClr val="FFFFFF"/>
                </a:solidFill>
                <a:latin typeface="Calibri"/>
              </a:rPr>
              <a:t>Ranked exposure</a:t>
            </a:r>
          </a:p>
          <a:p>
            <a:pPr marL="0" indent="0" algn="ctr">
              <a:buNone/>
            </a:pPr>
            <a:r>
              <a:rPr sz="1000" b="0">
                <a:solidFill>
                  <a:srgbClr val="FFFFFF"/>
                </a:solidFill>
                <a:latin typeface="Calibri"/>
              </a:rPr>
              <a:t>risk per section</a:t>
            </a:r>
          </a:p>
        </p:txBody>
      </p:sp>
      <p:sp>
        <p:nvSpPr>
          <p:cNvPr id="15" name="TextBox 14"/>
          <p:cNvSpPr txBox="1"/>
          <p:nvPr/>
        </p:nvSpPr>
        <p:spPr>
          <a:xfrm>
            <a:off x="502920" y="2615184"/>
            <a:ext cx="3657600" cy="237744"/>
          </a:xfrm>
          <a:prstGeom prst="rect">
            <a:avLst/>
          </a:prstGeom>
          <a:noFill/>
        </p:spPr>
        <p:txBody>
          <a:bodyPr wrap="square" lIns="0" tIns="0" rIns="0" bIns="0">
            <a:spAutoFit/>
          </a:bodyPr>
          <a:lstStyle/>
          <a:p>
            <a:pPr marL="0" indent="0" algn="l">
              <a:buNone/>
            </a:pPr>
            <a:r>
              <a:rPr sz="1100" b="1">
                <a:solidFill>
                  <a:srgbClr val="5A5A5A"/>
                </a:solidFill>
                <a:latin typeface="Calibri"/>
              </a:rPr>
              <a:t>LIVE  ·  on a fault</a:t>
            </a:r>
          </a:p>
        </p:txBody>
      </p:sp>
      <p:sp>
        <p:nvSpPr>
          <p:cNvPr id="16" name="Rounded Rectangle 15"/>
          <p:cNvSpPr/>
          <p:nvPr/>
        </p:nvSpPr>
        <p:spPr>
          <a:xfrm>
            <a:off x="502920" y="2907792"/>
            <a:ext cx="2057400" cy="658368"/>
          </a:xfrm>
          <a:prstGeom prst="roundRect">
            <a:avLst/>
          </a:prstGeom>
          <a:solidFill>
            <a:srgbClr val="E8EFF8"/>
          </a:solidFill>
          <a:ln>
            <a:solidFill>
              <a:srgbClr val="E8EFF8"/>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marL="0" indent="0" algn="ctr">
              <a:buNone/>
            </a:pPr>
            <a:r>
              <a:rPr sz="1300" b="1">
                <a:solidFill>
                  <a:srgbClr val="1E3355"/>
                </a:solidFill>
                <a:latin typeface="Calibri"/>
              </a:rPr>
              <a:t>FaultDiagnosis</a:t>
            </a:r>
          </a:p>
          <a:p>
            <a:pPr marL="0" indent="0" algn="ctr">
              <a:buNone/>
            </a:pPr>
            <a:r>
              <a:rPr sz="1000" b="0">
                <a:solidFill>
                  <a:srgbClr val="1E3355"/>
                </a:solidFill>
                <a:latin typeface="Calibri"/>
              </a:rPr>
              <a:t>cause · repair estimate</a:t>
            </a:r>
          </a:p>
        </p:txBody>
      </p:sp>
      <p:sp>
        <p:nvSpPr>
          <p:cNvPr id="17" name="Right Arrow 16"/>
          <p:cNvSpPr/>
          <p:nvPr/>
        </p:nvSpPr>
        <p:spPr>
          <a:xfrm>
            <a:off x="2633472" y="3163824"/>
            <a:ext cx="274320" cy="155448"/>
          </a:xfrm>
          <a:prstGeom prst="rightArrow">
            <a:avLst/>
          </a:prstGeom>
          <a:solidFill>
            <a:srgbClr val="A8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2980944" y="2907792"/>
            <a:ext cx="2057400" cy="658368"/>
          </a:xfrm>
          <a:prstGeom prst="roundRect">
            <a:avLst/>
          </a:prstGeom>
          <a:solidFill>
            <a:srgbClr val="2E7D5B"/>
          </a:solidFill>
          <a:ln>
            <a:solidFill>
              <a:srgbClr val="2E7D5B"/>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marL="0" indent="0" algn="ctr">
              <a:buNone/>
            </a:pPr>
            <a:r>
              <a:rPr sz="1300" b="1">
                <a:solidFill>
                  <a:srgbClr val="FFFFFF"/>
                </a:solidFill>
                <a:latin typeface="Calibri"/>
              </a:rPr>
              <a:t>SelfHealAgent</a:t>
            </a:r>
          </a:p>
          <a:p>
            <a:pPr marL="0" indent="0" algn="ctr">
              <a:buNone/>
            </a:pPr>
            <a:r>
              <a:rPr sz="1000" b="0">
                <a:solidFill>
                  <a:srgbClr val="FFFFFF"/>
                </a:solidFill>
                <a:latin typeface="Calibri"/>
              </a:rPr>
              <a:t>FLISR + CP-SAT switching</a:t>
            </a:r>
          </a:p>
        </p:txBody>
      </p:sp>
      <p:sp>
        <p:nvSpPr>
          <p:cNvPr id="19" name="Right Arrow 18"/>
          <p:cNvSpPr/>
          <p:nvPr/>
        </p:nvSpPr>
        <p:spPr>
          <a:xfrm>
            <a:off x="5111496" y="3163824"/>
            <a:ext cx="274320" cy="155448"/>
          </a:xfrm>
          <a:prstGeom prst="rightArrow">
            <a:avLst/>
          </a:prstGeom>
          <a:solidFill>
            <a:srgbClr val="A8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458968" y="2907792"/>
            <a:ext cx="2057400" cy="658368"/>
          </a:xfrm>
          <a:prstGeom prst="roundRect">
            <a:avLst/>
          </a:prstGeom>
          <a:solidFill>
            <a:srgbClr val="2E7D5B"/>
          </a:solidFill>
          <a:ln>
            <a:solidFill>
              <a:srgbClr val="2E7D5B"/>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marL="0" indent="0" algn="ctr">
              <a:buNone/>
            </a:pPr>
            <a:r>
              <a:rPr sz="1300" b="1">
                <a:solidFill>
                  <a:srgbClr val="FFFFFF"/>
                </a:solidFill>
                <a:latin typeface="Calibri"/>
              </a:rPr>
              <a:t>DispatchAgent</a:t>
            </a:r>
          </a:p>
          <a:p>
            <a:pPr marL="0" indent="0" algn="ctr">
              <a:buNone/>
            </a:pPr>
            <a:r>
              <a:rPr sz="1000" b="0">
                <a:solidFill>
                  <a:srgbClr val="FFFFFF"/>
                </a:solidFill>
                <a:latin typeface="Calibri"/>
              </a:rPr>
              <a:t>CP-SAT crew routing</a:t>
            </a:r>
          </a:p>
        </p:txBody>
      </p:sp>
      <p:sp>
        <p:nvSpPr>
          <p:cNvPr id="21" name="Right Arrow 20"/>
          <p:cNvSpPr/>
          <p:nvPr/>
        </p:nvSpPr>
        <p:spPr>
          <a:xfrm>
            <a:off x="7589520" y="3163824"/>
            <a:ext cx="274320" cy="155448"/>
          </a:xfrm>
          <a:prstGeom prst="rightArrow">
            <a:avLst/>
          </a:prstGeom>
          <a:solidFill>
            <a:srgbClr val="A8B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936992" y="2907792"/>
            <a:ext cx="2057400" cy="658368"/>
          </a:xfrm>
          <a:prstGeom prst="roundRect">
            <a:avLst/>
          </a:prstGeom>
          <a:solidFill>
            <a:srgbClr val="E8EFF8"/>
          </a:solidFill>
          <a:ln>
            <a:solidFill>
              <a:srgbClr val="E8EFF8"/>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marL="0" indent="0" algn="ctr">
              <a:buNone/>
            </a:pPr>
            <a:r>
              <a:rPr sz="1300" b="1">
                <a:solidFill>
                  <a:srgbClr val="1E3355"/>
                </a:solidFill>
                <a:latin typeface="Calibri"/>
              </a:rPr>
              <a:t>IncidentCommander</a:t>
            </a:r>
          </a:p>
          <a:p>
            <a:pPr marL="0" indent="0" algn="ctr">
              <a:buNone/>
            </a:pPr>
            <a:r>
              <a:rPr sz="1000" b="0">
                <a:solidFill>
                  <a:srgbClr val="1E3355"/>
                </a:solidFill>
                <a:latin typeface="Calibri"/>
              </a:rPr>
              <a:t>narrated decision trail</a:t>
            </a:r>
          </a:p>
        </p:txBody>
      </p:sp>
      <p:sp>
        <p:nvSpPr>
          <p:cNvPr id="23" name="TextBox 22"/>
          <p:cNvSpPr txBox="1"/>
          <p:nvPr/>
        </p:nvSpPr>
        <p:spPr>
          <a:xfrm>
            <a:off x="2980944" y="3621024"/>
            <a:ext cx="2057400" cy="237744"/>
          </a:xfrm>
          <a:prstGeom prst="rect">
            <a:avLst/>
          </a:prstGeom>
          <a:noFill/>
        </p:spPr>
        <p:txBody>
          <a:bodyPr wrap="square" lIns="0" tIns="0" rIns="0" bIns="0">
            <a:spAutoFit/>
          </a:bodyPr>
          <a:lstStyle/>
          <a:p>
            <a:pPr marL="0" indent="0" algn="ctr">
              <a:buNone/>
            </a:pPr>
            <a:r>
              <a:rPr sz="1000" b="0">
                <a:solidFill>
                  <a:srgbClr val="5A5A5A"/>
                </a:solidFill>
                <a:latin typeface="Calibri"/>
              </a:rPr>
              <a:t>seconds</a:t>
            </a:r>
          </a:p>
        </p:txBody>
      </p:sp>
      <p:sp>
        <p:nvSpPr>
          <p:cNvPr id="24" name="TextBox 23"/>
          <p:cNvSpPr txBox="1"/>
          <p:nvPr/>
        </p:nvSpPr>
        <p:spPr>
          <a:xfrm>
            <a:off x="5458968" y="3621024"/>
            <a:ext cx="2057400" cy="237744"/>
          </a:xfrm>
          <a:prstGeom prst="rect">
            <a:avLst/>
          </a:prstGeom>
          <a:noFill/>
        </p:spPr>
        <p:txBody>
          <a:bodyPr wrap="square" lIns="0" tIns="0" rIns="0" bIns="0">
            <a:spAutoFit/>
          </a:bodyPr>
          <a:lstStyle/>
          <a:p>
            <a:pPr marL="0" indent="0" algn="ctr">
              <a:buNone/>
            </a:pPr>
            <a:r>
              <a:rPr sz="1000" b="0">
                <a:solidFill>
                  <a:srgbClr val="5A5A5A"/>
                </a:solidFill>
                <a:latin typeface="Calibri"/>
              </a:rPr>
              <a:t>hours of work, ordered</a:t>
            </a:r>
          </a:p>
        </p:txBody>
      </p:sp>
      <p:sp>
        <p:nvSpPr>
          <p:cNvPr id="25" name="Rounded Rectangle 24"/>
          <p:cNvSpPr/>
          <p:nvPr/>
        </p:nvSpPr>
        <p:spPr>
          <a:xfrm>
            <a:off x="502920" y="4224528"/>
            <a:ext cx="9491472" cy="548640"/>
          </a:xfrm>
          <a:prstGeom prst="roundRect">
            <a:avLst/>
          </a:prstGeom>
          <a:solidFill>
            <a:srgbClr val="1E3355"/>
          </a:solidFill>
          <a:ln>
            <a:solidFill>
              <a:srgbClr val="1E3355"/>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marL="0" indent="0" algn="ctr">
              <a:buNone/>
            </a:pPr>
            <a:r>
              <a:rPr sz="1200" b="1">
                <a:solidFill>
                  <a:srgbClr val="FFFFFF"/>
                </a:solidFill>
                <a:latin typeface="Calibri"/>
              </a:rPr>
              <a:t>Counterfactual engine  ·  the same faults with no automatic switching and a nearest-first dispatcher</a:t>
            </a:r>
          </a:p>
          <a:p>
            <a:pPr marL="0" indent="0" algn="ctr">
              <a:buNone/>
            </a:pPr>
            <a:r>
              <a:rPr sz="1000" b="0">
                <a:solidFill>
                  <a:srgbClr val="FFFFFF"/>
                </a:solidFill>
                <a:latin typeface="Calibri"/>
              </a:rPr>
              <a:t>difference reported live as customer-minutes saved</a:t>
            </a:r>
          </a:p>
        </p:txBody>
      </p:sp>
      <p:sp>
        <p:nvSpPr>
          <p:cNvPr id="26" name="TextBox 25"/>
          <p:cNvSpPr txBox="1"/>
          <p:nvPr/>
        </p:nvSpPr>
        <p:spPr>
          <a:xfrm>
            <a:off x="502920" y="4937760"/>
            <a:ext cx="9491472" cy="237744"/>
          </a:xfrm>
          <a:prstGeom prst="rect">
            <a:avLst/>
          </a:prstGeom>
          <a:noFill/>
        </p:spPr>
        <p:txBody>
          <a:bodyPr wrap="square" lIns="0" tIns="0" rIns="0" bIns="0">
            <a:spAutoFit/>
          </a:bodyPr>
          <a:lstStyle/>
          <a:p>
            <a:pPr marL="0" indent="0" algn="l">
              <a:buNone/>
            </a:pPr>
            <a:r>
              <a:rPr sz="1200" b="1">
                <a:solidFill>
                  <a:srgbClr val="5583D1"/>
                </a:solidFill>
                <a:latin typeface="Calibri"/>
              </a:rPr>
              <a:t>Deterministic engines compute every number; agents only frame and narrate. The platform runs identically with no API key.</a:t>
            </a:r>
          </a:p>
        </p:txBody>
      </p:sp>
    </p:spTree>
    <p:extLst>
      <p:ext uri="{BB962C8B-B14F-4D97-AF65-F5344CB8AC3E}">
        <p14:creationId xmlns:p14="http://schemas.microsoft.com/office/powerpoint/2010/main" val="219837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231</TotalTime>
  <Words>1435</Words>
  <Application>Microsoft Office PowerPoint</Application>
  <PresentationFormat>Widescreen</PresentationFormat>
  <Paragraphs>128</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(Body)</vt:lpstr>
      <vt:lpstr>Frutiger 45 bold</vt:lpstr>
      <vt:lpstr>Frutiger LT Pro 45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Rushikesh Nirmal</cp:lastModifiedBy>
  <cp:revision>13</cp:revision>
  <dcterms:created xsi:type="dcterms:W3CDTF">2024-05-13T10:33:11Z</dcterms:created>
  <dcterms:modified xsi:type="dcterms:W3CDTF">2026-10-06T04:33:59Z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