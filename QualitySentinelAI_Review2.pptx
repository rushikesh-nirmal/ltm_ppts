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2" r:id="rId6"/>
    <p:sldId id="2147470501" r:id="rId7"/>
    <p:sldId id="2147470494" r:id="rId8"/>
    <p:sldId id="2147470497" r:id="rId9"/>
    <p:sldId id="2147470498" r:id="rId10"/>
    <p:sldId id="2147470500" r:id="rId11"/>
    <p:sldId id="214747049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4" d="100"/>
          <a:sy n="74" d="100"/>
        </p:scale>
        <p:origin x="576" y="-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sz="3000" b="1" dirty="0">
                <a:solidFill>
                  <a:srgbClr val="DCECF5"/>
                </a:solidFill>
                <a:latin typeface="Calibri"/>
              </a:rPr>
              <a:t>Review II</a:t>
            </a:r>
            <a:endParaRPr lang="en-GB" sz="3000" b="1" dirty="0">
              <a:solidFill>
                <a:srgbClr val="DCECF5"/>
              </a:solidFill>
              <a:latin typeface="Calibri"/>
            </a:endParaRPr>
          </a:p>
          <a:p>
            <a:pPr marL="0" marR="0" lvl="0" indent="0" algn="ctr" defTabSz="914400" rtl="0" eaLnBrk="1" fontAlgn="auto" latinLnBrk="0" hangingPunct="1">
              <a:buClrTx/>
              <a:buSzTx/>
              <a:buFontTx/>
              <a:buNone/>
              <a:tabLst/>
              <a:defRPr/>
            </a:pPr>
            <a:endParaRPr sz="3000" b="1" dirty="0">
              <a:solidFill>
                <a:srgbClr val="DCECF5"/>
              </a:solidFill>
              <a:latin typeface="Calibri"/>
            </a:endParaRPr>
          </a:p>
          <a:p>
            <a:pPr marL="0" indent="0" algn="ctr">
              <a:buNone/>
            </a:pPr>
            <a:r>
              <a:rPr sz="4400" b="1" dirty="0" err="1">
                <a:solidFill>
                  <a:srgbClr val="FFFFFF"/>
                </a:solidFill>
                <a:latin typeface="Calibri"/>
              </a:rPr>
              <a:t>QualitySentinel</a:t>
            </a:r>
            <a:r>
              <a:rPr sz="4400" b="1" dirty="0">
                <a:solidFill>
                  <a:srgbClr val="FFFFFF"/>
                </a:solidFill>
                <a:latin typeface="Calibri"/>
              </a:rPr>
              <a:t> AI</a:t>
            </a:r>
          </a:p>
          <a:p>
            <a:pPr marL="0" indent="0" algn="ctr">
              <a:buNone/>
            </a:pPr>
            <a:r>
              <a:rPr sz="2200" b="0" dirty="0">
                <a:solidFill>
                  <a:srgbClr val="DCECF5"/>
                </a:solidFill>
                <a:latin typeface="Calibri"/>
              </a:rPr>
              <a:t>Multimodal Construction Quality Investigation &amp; Prevention Platform</a:t>
            </a:r>
            <a:endParaRPr lang="en-GB" sz="2200" b="0" dirty="0">
              <a:solidFill>
                <a:srgbClr val="DCECF5"/>
              </a:solidFill>
              <a:latin typeface="Calibri"/>
            </a:endParaRPr>
          </a:p>
          <a:p>
            <a:pPr marL="0" indent="0">
              <a:buNone/>
            </a:pPr>
            <a:endParaRPr lang="en-IN" sz="2200" dirty="0">
              <a:solidFill>
                <a:srgbClr val="DCECF5"/>
              </a:solidFill>
              <a:latin typeface="Calibri"/>
            </a:endParaRPr>
          </a:p>
          <a:p>
            <a:pPr marL="0" indent="0">
              <a:buNone/>
            </a:pPr>
            <a:endParaRPr sz="2200" b="0" dirty="0">
              <a:solidFill>
                <a:srgbClr val="DCECF5"/>
              </a:solidFill>
              <a:latin typeface="Calibri"/>
            </a:endParaRPr>
          </a:p>
          <a:p>
            <a:pPr marL="0" indent="0">
              <a:buNone/>
            </a:pPr>
            <a:r>
              <a:rPr sz="2300" b="1" dirty="0">
                <a:solidFill>
                  <a:srgbClr val="FFFFFF"/>
                </a:solidFill>
                <a:latin typeface="Calibri"/>
              </a:rPr>
              <a:t>Rushikesh Rahul Nirmal</a:t>
            </a:r>
          </a:p>
          <a:p>
            <a:pPr marL="0" indent="0">
              <a:buNone/>
            </a:pPr>
            <a:r>
              <a:rPr sz="1600" b="0" dirty="0">
                <a:solidFill>
                  <a:srgbClr val="DCECF5"/>
                </a:solidFill>
                <a:latin typeface="Calibri"/>
              </a:rPr>
              <a:t>25MML0016  ·  </a:t>
            </a:r>
            <a:r>
              <a:rPr sz="1600" b="0" dirty="0" err="1">
                <a:solidFill>
                  <a:srgbClr val="DCECF5"/>
                </a:solidFill>
                <a:latin typeface="Calibri"/>
              </a:rPr>
              <a:t>M.Tech</a:t>
            </a:r>
            <a:r>
              <a:rPr sz="1600" b="0" dirty="0">
                <a:solidFill>
                  <a:srgbClr val="DCECF5"/>
                </a:solidFill>
                <a:latin typeface="Calibri"/>
              </a:rPr>
              <a:t> Artificial Intelligence &amp; Machine Learning</a:t>
            </a:r>
          </a:p>
          <a:p>
            <a:pPr marL="0" indent="0">
              <a:buNone/>
            </a:pPr>
            <a:r>
              <a:rPr sz="1600" b="0" dirty="0">
                <a:solidFill>
                  <a:srgbClr val="DCECF5"/>
                </a:solidFill>
                <a:latin typeface="Calibri"/>
              </a:rPr>
              <a:t>VIT Vellore  ·  Jointly offered with </a:t>
            </a:r>
            <a:r>
              <a:rPr sz="1600" b="0" dirty="0" err="1">
                <a:solidFill>
                  <a:srgbClr val="DCECF5"/>
                </a:solidFill>
                <a:latin typeface="Calibri"/>
              </a:rPr>
              <a:t>LTIMindtree</a:t>
            </a:r>
            <a:endParaRPr sz="1600" b="0" dirty="0">
              <a:solidFill>
                <a:srgbClr val="DCECF5"/>
              </a:solidFill>
              <a:latin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920" y="1325880"/>
            <a:ext cx="10241280" cy="4434840"/>
          </a:xfrm>
        </p:spPr>
        <p:txBody>
          <a:bodyPr wrap="square" lIns="0" rIns="0" anchor="t">
            <a:noAutofit/>
          </a:bodyPr>
          <a:lstStyle/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A site engineer photographs a crack, logs it, and the record closes. Detection is where construction quality inspection stops.</a:t>
            </a:r>
            <a:endParaRPr lang="en-US" sz="2400" b="0" dirty="0">
              <a:solidFill>
                <a:srgbClr val="5583D1"/>
              </a:solidFill>
            </a:endParaRP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Nobody systematically establishes why the defect appeared. The curing log, the batch ticket and the cube test sit in separate systems and are never read together.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So the same failure recurs on the next pour. The knowledge stays in individual engineers' heads rather than in the process.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Rework is costed at 5–10% of project value, and most of it is a repeat of something already seen elsewhere on the same site.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Existing tools detect defects on one screen and hold material records on another, but nothing reasons across them — which is where the preventable repetition lives.</a:t>
            </a:r>
          </a:p>
          <a:p>
            <a:pPr marL="0" indent="0">
              <a:buNone/>
            </a:pPr>
            <a:r>
              <a:rPr sz="1600" b="1">
                <a:solidFill>
                  <a:srgbClr val="5583D1"/>
                </a:solidFill>
                <a:latin typeface="Calibri"/>
              </a:rPr>
              <a:t>The gap this project addresses: taking a photograph through to a defensible cause and a corrective action for the next pour, not just a bounding box.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sz="3200" b="1">
                <a:solidFill>
                  <a:srgbClr val="5B9BD5"/>
                </a:solidFill>
                <a:latin typeface="Calibri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r"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QualitySentinel AI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920" y="1325880"/>
            <a:ext cx="10241280" cy="4434840"/>
          </a:xfrm>
        </p:spPr>
        <p:txBody>
          <a:bodyPr wrap="square" lIns="0" rIns="0" anchor="t">
            <a:noAutofit/>
          </a:bodyPr>
          <a:lstStyle/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Detect and classify surface defects from an ordinary site photograph across five classes, with per-finding confidence an engineer can act on.</a:t>
            </a:r>
            <a:endParaRPr lang="en-US" sz="2400" b="0" dirty="0">
              <a:solidFill>
                <a:srgbClr val="5583D1"/>
              </a:solidFill>
            </a:endParaRP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Score quality risk from the pour record — mix, curing, cover and test results — and expose the factors that drove the score rather than a bare number.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Investigate probable cause with specialist agents that each see only their own evidence, so their verdicts cannot simply agree with one another.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Ground the investigation in retrieved statistics from past records, so a claimed pattern is a measured one.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Deliver it as a working inspection dashboard, and state the system's own uncertainty on every panel rather than hiding it.</a:t>
            </a:r>
          </a:p>
          <a:p>
            <a:pPr marL="0" indent="0">
              <a:buNone/>
            </a:pPr>
            <a:r>
              <a:rPr sz="1600" b="1">
                <a:solidFill>
                  <a:srgbClr val="5583D1"/>
                </a:solidFill>
                <a:latin typeface="Calibri"/>
              </a:rPr>
              <a:t>Scope: a complete working platform on public defect imagery and a synthetic pour dataset built from IS 456 relationships, not a component study.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sz="3200" b="1">
                <a:solidFill>
                  <a:srgbClr val="5B9BD5"/>
                </a:solidFill>
                <a:latin typeface="Calibri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r"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QualitySentinel AI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920" y="1325880"/>
            <a:ext cx="10241280" cy="4434840"/>
          </a:xfrm>
        </p:spPr>
        <p:txBody>
          <a:bodyPr wrap="square" lIns="0" rIns="0" anchor="t">
            <a:noAutofit/>
          </a:bodyPr>
          <a:lstStyle/>
          <a:p>
            <a:pPr marL="0" indent="0">
              <a:buNone/>
            </a:pPr>
            <a:r>
              <a:rPr sz="1900" b="1">
                <a:solidFill>
                  <a:srgbClr val="5583D1"/>
                </a:solidFill>
                <a:latin typeface="Calibri"/>
              </a:rPr>
              <a:t>Modules 1 and 2 · what is wrong, and where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Three public Roboflow datasets merged into one 5-class set — 9,278 images and 21,685 boxes across Crack, Spalling, Rebar, Efflorescence and Scaling.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Audit before training caught three faults: a source with unlabelled class names, 932 near-full-frame boxes that teach nothing about location, and one source entirely greyscale.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Rust was dropped on that last finding. It is defined by being orange-brown, so 2,217 greyscale training boxes would have taught the model to fire on shadows.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YOLOv8 detector served through FastAPI; the most severe defect found is passed forward as the input to risk scoring.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Current weights are a 300-image validation run at mAP@50 0.438. Full-dataset GPU training is the outstanding item before the final review.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>
              <a:defRPr/>
            </a:pPr>
            <a:r>
              <a:rPr sz="3200" b="1">
                <a:solidFill>
                  <a:srgbClr val="5B9BD5"/>
                </a:solidFill>
                <a:latin typeface="Calibri"/>
              </a:rPr>
              <a:t>Modules 1 &amp; 2 — Data Pipeline and Defect Detection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r"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QualitySentinel AI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920" y="1325880"/>
            <a:ext cx="10241280" cy="4434840"/>
          </a:xfrm>
        </p:spPr>
        <p:txBody>
          <a:bodyPr wrap="square" lIns="0" rIns="0" anchor="t">
            <a:noAutofit/>
          </a:bodyPr>
          <a:lstStyle/>
          <a:p>
            <a:pPr marL="0" indent="0">
              <a:buNone/>
            </a:pPr>
            <a:r>
              <a:rPr sz="1900" b="1">
                <a:solidFill>
                  <a:srgbClr val="5583D1"/>
                </a:solidFill>
                <a:latin typeface="Calibri"/>
              </a:rPr>
              <a:t>Module 3 · severity, and the reasons behind it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XGBoost over 4,000 synthetic pour records — supplier, grade, water-cement ratio, curing days, ambient temperature, cover depth, 28-day cube strength and the observed defect.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Held-out accuracy 74.5% against a 44.4% majority-class baseline, a 30.1-point lift. Low and High are almost never confused; error concentrates on the Medium boundary, where it belongs.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Per-prediction attribution from exact TreeSHAP, computed through the booster so the explanation is the model's own, not a surrogate.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Contributions are always taken toward the High class, giving one consistent risk axis — otherwise the sign of an explanation flips with the verdict.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Recovered drivers rank as curing duration, 28-day strength, cover depth, crack width — the four things a site engineer checks, found without being told.</a:t>
            </a:r>
          </a:p>
          <a:p>
            <a:pPr marL="0" indent="0">
              <a:buNone/>
            </a:pPr>
            <a:r>
              <a:rPr sz="1600" b="1">
                <a:solidFill>
                  <a:srgbClr val="5583D1"/>
                </a:solidFill>
                <a:latin typeface="Calibri"/>
              </a:rPr>
              <a:t>A missing field falls back to the training median rather than zero — read as zero, an unrecorded curing log would score High on a pour nobody measured.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>
              <a:defRPr/>
            </a:pPr>
            <a:r>
              <a:rPr sz="3200" b="1">
                <a:solidFill>
                  <a:srgbClr val="5B9BD5"/>
                </a:solidFill>
                <a:latin typeface="Calibri"/>
              </a:rPr>
              <a:t>Module 3 — Quality Risk Assessment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r"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QualitySentinel AI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920" y="1325880"/>
            <a:ext cx="10241280" cy="4434840"/>
          </a:xfrm>
        </p:spPr>
        <p:txBody>
          <a:bodyPr wrap="square" lIns="0" rIns="0" anchor="t">
            <a:noAutofit/>
          </a:bodyPr>
          <a:lstStyle/>
          <a:p>
            <a:pPr marL="0" indent="0">
              <a:buNone/>
            </a:pPr>
            <a:r>
              <a:rPr sz="1900" b="1">
                <a:solidFill>
                  <a:srgbClr val="5583D1"/>
                </a:solidFill>
                <a:latin typeface="Calibri"/>
              </a:rPr>
              <a:t>Module 4 · the core contribution of this project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Three specialist agents examine strictly non-overlapping evidence in parallel — mix and supply, site execution, historical record — then a fourth weighs their findings.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The history specialist is handed retrieved statistics rather than asked to recall a pattern: curing under three days shows 62% High risk against a 19% base rate across 376 matched records.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Every agent returns structured JSON with an explicit insufficient_evidence verdict, so declining to blame anything is a first-class answer rather than a failure.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Separation validated on three constructed cases with known answers. Each specialist claimed primacy only when its own slice was at fault and stood down when it was clean.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On a compliant pour all three declined and the chair returned no identifiable cause at 0.20 confidence — the failure mode this architecture exists to prevent. Served by openai/gpt-oss-120b via Groq: four agents, about 3,900 tokens, under five seconds.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>
              <a:defRPr/>
            </a:pPr>
            <a:r>
              <a:rPr sz="3200" b="1">
                <a:solidFill>
                  <a:srgbClr val="5B9BD5"/>
                </a:solidFill>
                <a:latin typeface="Calibri"/>
              </a:rPr>
              <a:t>Module 4 — Multi-Agent Root-Cause Investigation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r"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QualitySentinel AI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920" y="1325880"/>
            <a:ext cx="10241280" cy="4434840"/>
          </a:xfrm>
        </p:spPr>
        <p:txBody>
          <a:bodyPr wrap="square" lIns="0" rIns="0" anchor="t">
            <a:noAutofit/>
          </a:bodyPr>
          <a:lstStyle/>
          <a:p>
            <a:pPr marL="0" indent="0">
              <a:buNone/>
            </a:pPr>
            <a:r>
              <a:rPr sz="1900" b="1">
                <a:solidFill>
                  <a:srgbClr val="5583D1"/>
                </a:solidFill>
                <a:latin typeface="Calibri"/>
              </a:rPr>
              <a:t>Imagery</a:t>
            </a:r>
            <a:endParaRPr lang="en-US" sz="2400" b="0" dirty="0">
              <a:solidFill>
                <a:srgbClr val="5583D1"/>
              </a:solidFill>
            </a:endParaRP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Three public datasets merged with class renumbering, a near-full-frame box filter and a cap on the dominant class. Audited for label geometry and colour-space consistency before any training.</a:t>
            </a:r>
          </a:p>
          <a:p>
            <a:pPr marL="0" indent="0">
              <a:buNone/>
            </a:pPr>
            <a:r>
              <a:rPr sz="1900" b="1">
                <a:solidFill>
                  <a:srgbClr val="5583D1"/>
                </a:solidFill>
                <a:latin typeface="Calibri"/>
              </a:rPr>
              <a:t>Synthetic pour records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Four thousand records generated from documented concrete relationships — Abrams' law for water-cement ratio against strength, IS 456 curing durations extended in hot weather, nominal cover by element, corrosion risk rising with age where cover is short.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Eight interacting terms with noise, overlapping supplier quality and 5% label disagreement, tuned so roughly 78% accuracy is achievable. A generator yielding 99% would mean the model was reciting the rules rather than learning them.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The model observes only measurable fields. It never sees the latent risk function.</a:t>
            </a:r>
          </a:p>
          <a:p>
            <a:pPr marL="0" indent="0">
              <a:buNone/>
            </a:pPr>
            <a:r>
              <a:rPr sz="1900" b="1">
                <a:solidFill>
                  <a:srgbClr val="5583D1"/>
                </a:solidFill>
                <a:latin typeface="Calibri"/>
              </a:rPr>
              <a:t>Agent contract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Deterministic models compute every number → agents reason over that evidence → no measurement in the system originates from a language model.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>
              <a:defRPr/>
            </a:pPr>
            <a:r>
              <a:rPr sz="3200" b="1">
                <a:solidFill>
                  <a:srgbClr val="5B9BD5"/>
                </a:solidFill>
                <a:latin typeface="Calibri"/>
              </a:rPr>
              <a:t>Methodology / Modelling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r"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QualitySentinel AI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920" y="1325880"/>
            <a:ext cx="10241280" cy="4434840"/>
          </a:xfrm>
        </p:spPr>
        <p:txBody>
          <a:bodyPr wrap="square" lIns="0" rIns="0" anchor="t">
            <a:noAutofit/>
          </a:bodyPr>
          <a:lstStyle/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Merged image set of 9,278 across train, validation and test, carrying 21,685 boxes. Class share runs 48% Crack down to 2.6% Scaling — reported per class, never as a single mAP that would hide it.</a:t>
            </a:r>
            <a:endParaRPr lang="en-US" sz="2400" b="0" dirty="0">
              <a:solidFill>
                <a:srgbClr val="5583D1"/>
              </a:solidFill>
            </a:endParaRP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Box geometry audited before training: Efflorescence 20.7% and Crack 16.0% of boxes exceeded half the frame. Filtering on area alone was rejected — a diagonal crack legitimately spans the frame — so the filter removes boxes wide and tall.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Colour-space check across sources: 40 of 40 sampled images from one dataset were greyscale against 1 of 40 and 6 of 40 in the others. This is what disqualified Rust.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Pour records split 45/36/19 across Low, Medium and High. All generation is seeded, so a rebuild reproduces the same dataset and the same model scores.</a:t>
            </a:r>
          </a:p>
          <a:p>
            <a:pPr marL="0" indent="0">
              <a:buNone/>
            </a:pPr>
            <a:r>
              <a:rPr sz="1900" b="1">
                <a:solidFill>
                  <a:srgbClr val="5583D1"/>
                </a:solidFill>
                <a:latin typeface="Calibri"/>
              </a:rPr>
              <a:t>Data provenance — stated explicitly</a:t>
            </a:r>
          </a:p>
          <a:p>
            <a:pPr marL="0" indent="0">
              <a:buNone/>
            </a:pPr>
            <a:r>
              <a:rPr sz="1500" b="0">
                <a:solidFill>
                  <a:srgbClr val="242424"/>
                </a:solidFill>
                <a:latin typeface="Calibri"/>
              </a:rPr>
              <a:t>Defect imagery is public and CC BY 4.0. The pour records are synthetic: linked defect-to-supplier data is not publicly available and company data cannot be used in an academic project. The schema is the real one, so field records replace the synthetic layer without a code change.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>
              <a:defRPr/>
            </a:pPr>
            <a:r>
              <a:rPr sz="3200" b="1">
                <a:solidFill>
                  <a:srgbClr val="5B9BD5"/>
                </a:solidFill>
                <a:latin typeface="Calibri"/>
              </a:rP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r"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QualitySentinel AI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920" y="1325880"/>
            <a:ext cx="10241280" cy="4434840"/>
          </a:xfrm>
        </p:spPr>
        <p:txBody>
          <a:bodyPr wrap="square" lIns="0" rIns="0" anchor="t">
            <a:noAutofit/>
          </a:bodyPr>
          <a:lstStyle/>
          <a:p>
            <a:pPr marL="0" indent="0">
              <a:buNone/>
            </a:pPr>
            <a:r>
              <a:rPr sz="1600" b="1">
                <a:solidFill>
                  <a:srgbClr val="5583D1"/>
                </a:solidFill>
                <a:latin typeface="Calibri"/>
              </a:rPr>
              <a:t>Detection</a:t>
            </a:r>
            <a:endParaRPr lang="en-US" sz="2400" b="0" dirty="0">
              <a:solidFill>
                <a:srgbClr val="5583D1"/>
              </a:solidFill>
            </a:endParaRP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Ultralytics YOLOv8 · five defect classes · OpenCV and Pillow for the label audit and merge pipeline</a:t>
            </a:r>
          </a:p>
          <a:p>
            <a:pPr marL="0" indent="0">
              <a:buNone/>
            </a:pPr>
            <a:r>
              <a:rPr sz="1600" b="1">
                <a:solidFill>
                  <a:srgbClr val="5583D1"/>
                </a:solidFill>
                <a:latin typeface="Calibri"/>
              </a:rPr>
              <a:t>Risk and explanation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XGBoost gradient-boosted trees · exact TreeSHAP through the booster · scikit-learn for splitting and metrics · joblib for model persistence</a:t>
            </a:r>
          </a:p>
          <a:p>
            <a:pPr marL="0" indent="0">
              <a:buNone/>
            </a:pPr>
            <a:r>
              <a:rPr sz="1600" b="1">
                <a:solidFill>
                  <a:srgbClr val="5583D1"/>
                </a:solidFill>
                <a:latin typeface="Calibri"/>
              </a:rPr>
              <a:t>Agents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openai/gpt-oss-120b served by Groq · three specialists run concurrently on a thread pool, then a synthesis chair · JSON-constrained responses with a tolerant parser and rate-limit backoff</a:t>
            </a:r>
          </a:p>
          <a:p>
            <a:pPr marL="0" indent="0">
              <a:buNone/>
            </a:pPr>
            <a:r>
              <a:rPr sz="1600" b="1">
                <a:solidFill>
                  <a:srgbClr val="5583D1"/>
                </a:solidFill>
                <a:latin typeface="Calibri"/>
              </a:rPr>
              <a:t>Data and service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NumPy · pandas · FastAPI · Pydantic · Uvicorn · python-dotenv for credential handling</a:t>
            </a:r>
          </a:p>
          <a:p>
            <a:pPr marL="0" indent="0">
              <a:buNone/>
            </a:pPr>
            <a:r>
              <a:rPr sz="1600" b="1">
                <a:solidFill>
                  <a:srgbClr val="5583D1"/>
                </a:solidFill>
                <a:latin typeface="Calibri"/>
              </a:rPr>
              <a:t>Dashboard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React with Vite · hand-built SVG overlay for detection boxes and a diverging SHAP factor chart · no charting library, nothing loaded from a CDN</a:t>
            </a:r>
          </a:p>
          <a:p>
            <a:pPr marL="0" indent="0">
              <a:buNone/>
            </a:pPr>
            <a:r>
              <a:rPr sz="1600" b="1">
                <a:solidFill>
                  <a:srgbClr val="5583D1"/>
                </a:solidFill>
                <a:latin typeface="Calibri"/>
              </a:rPr>
              <a:t>Verification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Constructed-case evaluation for agent separation · majority-class baselines reported beside every accuracy figure · colour-blind separation of the chart palette computed, not eyeballed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>
              <a:defRPr/>
            </a:pPr>
            <a:r>
              <a:rPr sz="3200" b="1">
                <a:solidFill>
                  <a:srgbClr val="5B9BD5"/>
                </a:solidFill>
                <a:latin typeface="Calibri"/>
              </a:rPr>
              <a:t>Approach, Algorithms &amp;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r"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QualitySentinel AI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920" y="1325880"/>
            <a:ext cx="10241280" cy="4434840"/>
          </a:xfrm>
        </p:spPr>
        <p:txBody>
          <a:bodyPr wrap="square" lIns="0" rIns="0" anchor="t">
            <a:noAutofit/>
          </a:bodyPr>
          <a:lstStyle/>
          <a:p>
            <a:pPr marL="0" indent="0">
              <a:buNone/>
            </a:pPr>
            <a:r>
              <a:rPr sz="1600" b="1">
                <a:solidFill>
                  <a:srgbClr val="5583D1"/>
                </a:solidFill>
                <a:latin typeface="Calibri"/>
              </a:rPr>
              <a:t>Completed for Review II</a:t>
            </a:r>
            <a:endParaRPr lang="en-US" sz="2400" b="0" dirty="0">
              <a:solidFill>
                <a:srgbClr val="5583D1"/>
              </a:solidFill>
            </a:endParaRP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Dataset merge and audit — three sources to five classes, with the greyscale and box-geometry findings acted on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Synthetic pour generator built from IS 456 relationships, deliberately noisy and seeded for reproducibility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Risk model at 74.5% against a 44.4% baseline, with TreeSHAP attribution served per prediction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Four-agent investigation with retrieval-grounded history, validated on constructed cases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FastAPI backend and React inspection dashboard — detection, risk and investigation all live</a:t>
            </a:r>
          </a:p>
          <a:p>
            <a:pPr marL="0" indent="0">
              <a:buNone/>
            </a:pPr>
            <a:r>
              <a:rPr sz="1600" b="1">
                <a:solidFill>
                  <a:srgbClr val="5583D1"/>
                </a:solidFill>
                <a:latin typeface="Calibri"/>
              </a:rPr>
              <a:t>Planned before final review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Full-dataset GPU training of the detector, replacing the 300-image validation weights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Ground the agents' code citations — an agent was found citing 20 mm minimum cover for a column where IS 456 requires 40 mm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Module 5 — preventive action ranked by expected effect, generated from the risk factors and the panel conclusion</a:t>
            </a:r>
          </a:p>
          <a:p>
            <a:pPr marL="237744" indent="-237744">
              <a:buChar char="•"/>
            </a:pPr>
            <a:r>
              <a:rPr sz="1600" b="0">
                <a:solidFill>
                  <a:srgbClr val="242424"/>
                </a:solidFill>
                <a:latin typeface="Calibri"/>
              </a:rPr>
              <a:t>Persist inspections so the history specialist reasons over this project's own record rather than the synthetic 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>
              <a:defRPr/>
            </a:pPr>
            <a:r>
              <a:rPr sz="3200" b="1">
                <a:solidFill>
                  <a:srgbClr val="5B9BD5"/>
                </a:solidFill>
                <a:latin typeface="Calibri"/>
              </a:rPr>
              <a:t>Project Plan &amp; Milestone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r"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QualitySentinel AI</a:t>
            </a:r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>
              <a:defRPr/>
            </a:pPr>
            <a:r>
              <a:rPr sz="3200" b="1">
                <a:solidFill>
                  <a:srgbClr val="5B9BD5"/>
                </a:solidFill>
                <a:latin typeface="Calibri"/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r"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QualitySentinel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5A5A5A"/>
                </a:solidFill>
                <a:latin typeface="Calibri"/>
              </a:rPr>
              <a:t>OFFLINE  ·  build and train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91056"/>
            <a:ext cx="2057400" cy="566928"/>
          </a:xfrm>
          <a:prstGeom prst="roundRect">
            <a:avLst/>
          </a:prstGeom>
          <a:solidFill>
            <a:srgbClr val="E8EFF8"/>
          </a:solidFill>
          <a:ln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1E3355"/>
                </a:solidFill>
                <a:latin typeface="Calibri"/>
              </a:rPr>
              <a:t>Dataset merge</a:t>
            </a:r>
          </a:p>
          <a:p>
            <a:pPr marL="0" indent="0" algn="ctr">
              <a:buNone/>
            </a:pPr>
            <a:r>
              <a:rPr sz="1000" b="0">
                <a:solidFill>
                  <a:srgbClr val="1E3355"/>
                </a:solidFill>
                <a:latin typeface="Calibri"/>
              </a:rPr>
              <a:t>9,278 images · 5 classes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33472" y="1801368"/>
            <a:ext cx="274320" cy="155448"/>
          </a:xfrm>
          <a:prstGeom prst="rightArrow">
            <a:avLst/>
          </a:prstGeom>
          <a:solidFill>
            <a:srgbClr val="A8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80944" y="1591056"/>
            <a:ext cx="2057400" cy="566928"/>
          </a:xfrm>
          <a:prstGeom prst="roundRect">
            <a:avLst/>
          </a:prstGeom>
          <a:solidFill>
            <a:srgbClr val="E8EFF8"/>
          </a:solidFill>
          <a:ln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1E3355"/>
                </a:solidFill>
                <a:latin typeface="Calibri"/>
              </a:rPr>
              <a:t>Label audit</a:t>
            </a:r>
          </a:p>
          <a:p>
            <a:pPr marL="0" indent="0" algn="ctr">
              <a:buNone/>
            </a:pPr>
            <a:r>
              <a:rPr sz="1000" b="0">
                <a:solidFill>
                  <a:srgbClr val="1E3355"/>
                </a:solidFill>
                <a:latin typeface="Calibri"/>
              </a:rPr>
              <a:t>greyscale · box geometry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111496" y="1801368"/>
            <a:ext cx="274320" cy="155448"/>
          </a:xfrm>
          <a:prstGeom prst="rightArrow">
            <a:avLst/>
          </a:prstGeom>
          <a:solidFill>
            <a:srgbClr val="A8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58968" y="1591056"/>
            <a:ext cx="2057400" cy="566928"/>
          </a:xfrm>
          <a:prstGeom prst="roundRect">
            <a:avLst/>
          </a:prstGeom>
          <a:solidFill>
            <a:srgbClr val="E8EFF8"/>
          </a:solidFill>
          <a:ln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1E3355"/>
                </a:solidFill>
                <a:latin typeface="Calibri"/>
              </a:rPr>
              <a:t>YOLOv8 detector</a:t>
            </a:r>
          </a:p>
          <a:p>
            <a:pPr marL="0" indent="0" algn="ctr">
              <a:buNone/>
            </a:pPr>
            <a:r>
              <a:rPr sz="1000" b="0">
                <a:solidFill>
                  <a:srgbClr val="1E3355"/>
                </a:solidFill>
                <a:latin typeface="Calibri"/>
              </a:rPr>
              <a:t>mAP 0.438 · GPU run pending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589520" y="1801368"/>
            <a:ext cx="274320" cy="155448"/>
          </a:xfrm>
          <a:prstGeom prst="rightArrow">
            <a:avLst/>
          </a:prstGeom>
          <a:solidFill>
            <a:srgbClr val="A8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936992" y="1591056"/>
            <a:ext cx="2057400" cy="566928"/>
          </a:xfrm>
          <a:prstGeom prst="roundRect">
            <a:avLst/>
          </a:prstGeom>
          <a:solidFill>
            <a:srgbClr val="5B9BD5"/>
          </a:solidFill>
          <a:ln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XGBoost + TreeSHAP</a:t>
            </a:r>
          </a:p>
          <a:p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Calibri"/>
              </a:rPr>
              <a:t>74.5% vs 44.4%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15184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5A5A5A"/>
                </a:solidFill>
                <a:latin typeface="Calibri"/>
              </a:rPr>
              <a:t>LIVE  ·  on a site photograph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07792"/>
            <a:ext cx="2057400" cy="658368"/>
          </a:xfrm>
          <a:prstGeom prst="roundRect">
            <a:avLst/>
          </a:prstGeom>
          <a:solidFill>
            <a:srgbClr val="E8EFF8"/>
          </a:solidFill>
          <a:ln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1E3355"/>
                </a:solidFill>
                <a:latin typeface="Calibri"/>
              </a:rPr>
              <a:t>Detection</a:t>
            </a:r>
          </a:p>
          <a:p>
            <a:pPr marL="0" indent="0" algn="ctr">
              <a:buNone/>
            </a:pPr>
            <a:r>
              <a:rPr sz="1000" b="0">
                <a:solidFill>
                  <a:srgbClr val="1E3355"/>
                </a:solidFill>
                <a:latin typeface="Calibri"/>
              </a:rPr>
              <a:t>defects located and ranked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633472" y="3163824"/>
            <a:ext cx="274320" cy="155448"/>
          </a:xfrm>
          <a:prstGeom prst="rightArrow">
            <a:avLst/>
          </a:prstGeom>
          <a:solidFill>
            <a:srgbClr val="A8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980944" y="2907792"/>
            <a:ext cx="2057400" cy="658368"/>
          </a:xfrm>
          <a:prstGeom prst="roundRect">
            <a:avLst/>
          </a:prstGeom>
          <a:solidFill>
            <a:srgbClr val="2E7D5B"/>
          </a:solidFill>
          <a:ln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Risk assessment</a:t>
            </a:r>
          </a:p>
          <a:p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Calibri"/>
              </a:rPr>
              <a:t>severity · driving factors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111496" y="3163824"/>
            <a:ext cx="274320" cy="155448"/>
          </a:xfrm>
          <a:prstGeom prst="rightArrow">
            <a:avLst/>
          </a:prstGeom>
          <a:solidFill>
            <a:srgbClr val="A8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58968" y="2907792"/>
            <a:ext cx="2057400" cy="658368"/>
          </a:xfrm>
          <a:prstGeom prst="roundRect">
            <a:avLst/>
          </a:prstGeom>
          <a:solidFill>
            <a:srgbClr val="2E7D5B"/>
          </a:solidFill>
          <a:ln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Three specialists</a:t>
            </a:r>
          </a:p>
          <a:p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Calibri"/>
              </a:rPr>
              <a:t>mix · execution · history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589520" y="3163824"/>
            <a:ext cx="274320" cy="155448"/>
          </a:xfrm>
          <a:prstGeom prst="rightArrow">
            <a:avLst/>
          </a:prstGeom>
          <a:solidFill>
            <a:srgbClr val="A8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936992" y="2907792"/>
            <a:ext cx="2057400" cy="658368"/>
          </a:xfrm>
          <a:prstGeom prst="roundRect">
            <a:avLst/>
          </a:prstGeom>
          <a:solidFill>
            <a:srgbClr val="E8EFF8"/>
          </a:solidFill>
          <a:ln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1E3355"/>
                </a:solidFill>
                <a:latin typeface="Calibri"/>
              </a:rPr>
              <a:t>Panel chair</a:t>
            </a:r>
          </a:p>
          <a:p>
            <a:pPr marL="0" indent="0" algn="ctr">
              <a:buNone/>
            </a:pPr>
            <a:r>
              <a:rPr sz="1000" b="0">
                <a:solidFill>
                  <a:srgbClr val="1E3355"/>
                </a:solidFill>
                <a:latin typeface="Calibri"/>
              </a:rPr>
              <a:t>probable cause · evidence gaps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0944" y="3621024"/>
            <a:ext cx="20574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buNone/>
            </a:pPr>
            <a:r>
              <a:rPr sz="1000" b="0">
                <a:solidFill>
                  <a:srgbClr val="5A5A5A"/>
                </a:solidFill>
                <a:latin typeface="Calibri"/>
              </a:rPr>
              <a:t>under a second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8" y="3621024"/>
            <a:ext cx="20574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buNone/>
            </a:pPr>
            <a:r>
              <a:rPr sz="1000" b="0">
                <a:solidFill>
                  <a:srgbClr val="5A5A5A"/>
                </a:solidFill>
                <a:latin typeface="Calibri"/>
              </a:rPr>
              <a:t>about five seconds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224528"/>
            <a:ext cx="9491472" cy="548640"/>
          </a:xfrm>
          <a:prstGeom prst="roundRect">
            <a:avLst/>
          </a:prstGeom>
          <a:solidFill>
            <a:srgbClr val="1E3355"/>
          </a:solidFill>
          <a:ln>
            <a:solidFill>
              <a:srgbClr val="1E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Separation test  ·  three constructed cases with known answers, each specialist standing down when its own evidence is clean</a:t>
            </a:r>
          </a:p>
          <a:p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Calibri"/>
              </a:rPr>
              <a:t>verdicts tracked the evidence, confirming the separation is functional rather than cosmetic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937760"/>
            <a:ext cx="949147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5583D1"/>
                </a:solidFill>
                <a:latin typeface="Calibri"/>
              </a:rPr>
              <a:t>Deterministic models compute every number; the agents reason over that evidence and never originate a measurement.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1703</Words>
  <Application>Microsoft Office PowerPoint</Application>
  <PresentationFormat>Widescreen</PresentationFormat>
  <Paragraphs>129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Rushikesh Nirmal</cp:lastModifiedBy>
  <cp:revision>13</cp:revision>
  <dcterms:created xsi:type="dcterms:W3CDTF">2024-05-13T10:33:11Z</dcterms:created>
  <dcterms:modified xsi:type="dcterms:W3CDTF">2026-10-07T03:34:57Z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