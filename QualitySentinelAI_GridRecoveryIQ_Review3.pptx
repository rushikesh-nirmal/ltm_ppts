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3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4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147470489" r:id="rId2"/>
    <p:sldId id="2147470492" r:id="rId3"/>
    <p:sldId id="2147470493" r:id="rId4"/>
    <p:sldId id="2147470487" r:id="rId5"/>
    <p:sldId id="2147470504" r:id="rId6"/>
    <p:sldId id="2147470505" r:id="rId7"/>
    <p:sldId id="2147470506" r:id="rId8"/>
    <p:sldId id="2147470507" r:id="rId9"/>
    <p:sldId id="2147470508" r:id="rId10"/>
    <p:sldId id="2147470501" r:id="rId11"/>
    <p:sldId id="2147470498" r:id="rId12"/>
    <p:sldId id="2147470497" r:id="rId13"/>
    <p:sldId id="2147470499" r:id="rId14"/>
    <p:sldId id="2147470503" r:id="rId15"/>
    <p:sldId id="2147470510" r:id="rId16"/>
    <p:sldId id="2147470511" r:id="rId17"/>
    <p:sldId id="2147470512" r:id="rId18"/>
    <p:sldId id="2147470513" r:id="rId19"/>
    <p:sldId id="2147470514" r:id="rId20"/>
    <p:sldId id="2147470515" r:id="rId21"/>
    <p:sldId id="2147470516" r:id="rId22"/>
    <p:sldId id="2147470517" r:id="rId23"/>
    <p:sldId id="2147470518" r:id="rId24"/>
    <p:sldId id="2147470519" r:id="rId25"/>
    <p:sldId id="2147470520" r:id="rId26"/>
    <p:sldId id="2147470521" r:id="rId27"/>
    <p:sldId id="2147470522" r:id="rId28"/>
    <p:sldId id="2147470523" r:id="rId29"/>
    <p:sldId id="2147470524" r:id="rId30"/>
    <p:sldId id="214747052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B33A12"/>
            </a:solidFill>
          </c:spPr>
          <c:invertIfNegative val="1"/>
          <c:dLbls>
            <c:numFmt formatCode="&quot;+&quot;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242424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Curing 2 days</c:v>
                </c:pt>
                <c:pt idx="1">
                  <c:v>28-day strength 17 MPa</c:v>
                </c:pt>
                <c:pt idx="2">
                  <c:v>Cover 18 mm</c:v>
                </c:pt>
                <c:pt idx="3">
                  <c:v>Crack width 2.4 mm</c:v>
                </c:pt>
                <c:pt idx="4">
                  <c:v>Defect: Rebar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2.2999999999999998</c:v>
                </c:pt>
                <c:pt idx="1">
                  <c:v>1.48</c:v>
                </c:pt>
                <c:pt idx="2">
                  <c:v>1.26</c:v>
                </c:pt>
                <c:pt idx="3">
                  <c:v>1.1100000000000001</c:v>
                </c:pt>
                <c:pt idx="4">
                  <c:v>0.66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CA9-4BD2-AABC-0EC655B8ADC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6C8C1"/>
            </a:solidFill>
          </a:ln>
        </c:spPr>
        <c:txPr>
          <a:bodyPr/>
          <a:lstStyle/>
          <a:p>
            <a:pPr>
              <a:defRPr sz="1400">
                <a:solidFill>
                  <a:srgbClr val="242424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565C0"/>
            </a:solidFill>
          </c:spPr>
          <c:invertIfNegative val="1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242424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Curing duration</c:v>
                </c:pt>
                <c:pt idx="1">
                  <c:v>28-day strength</c:v>
                </c:pt>
                <c:pt idx="2">
                  <c:v>Cover depth</c:v>
                </c:pt>
                <c:pt idx="3">
                  <c:v>Water-cement ratio</c:v>
                </c:pt>
                <c:pt idx="4">
                  <c:v>Pour temperature</c:v>
                </c:pt>
                <c:pt idx="5">
                  <c:v>Slump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0.49</c:v>
                </c:pt>
                <c:pt idx="1">
                  <c:v>0.24</c:v>
                </c:pt>
                <c:pt idx="2">
                  <c:v>0.15</c:v>
                </c:pt>
                <c:pt idx="3">
                  <c:v>7.0000000000000007E-2</c:v>
                </c:pt>
                <c:pt idx="4">
                  <c:v>0.05</c:v>
                </c:pt>
                <c:pt idx="5">
                  <c:v>0.01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271-4DAF-A6E1-80854C02B8E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6C8C1"/>
            </a:solidFill>
          </a:ln>
        </c:spPr>
        <c:txPr>
          <a:bodyPr/>
          <a:lstStyle/>
          <a:p>
            <a:pPr>
              <a:defRPr sz="1400">
                <a:solidFill>
                  <a:srgbClr val="242424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B33A12"/>
            </a:solidFill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242424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Lightning density</c:v>
                </c:pt>
                <c:pt idx="1">
                  <c:v>Asset age</c:v>
                </c:pt>
                <c:pt idx="2">
                  <c:v>Soil saturation</c:v>
                </c:pt>
                <c:pt idx="3">
                  <c:v>Vegetation encroachment</c:v>
                </c:pt>
                <c:pt idx="4">
                  <c:v>Temperature</c:v>
                </c:pt>
                <c:pt idx="5">
                  <c:v>Time since maintenance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0.17510000000000001</c:v>
                </c:pt>
                <c:pt idx="1">
                  <c:v>0.1137</c:v>
                </c:pt>
                <c:pt idx="2">
                  <c:v>0.1132</c:v>
                </c:pt>
                <c:pt idx="3">
                  <c:v>6.5500000000000003E-2</c:v>
                </c:pt>
                <c:pt idx="4">
                  <c:v>6.1800000000000001E-2</c:v>
                </c:pt>
                <c:pt idx="5">
                  <c:v>5.5199999999999999E-2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363-4F22-8606-2C8D2CF6FE3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6C8C1"/>
            </a:solidFill>
          </a:ln>
        </c:spPr>
        <c:txPr>
          <a:bodyPr/>
          <a:lstStyle/>
          <a:p>
            <a:pPr>
              <a:defRPr sz="1400">
                <a:solidFill>
                  <a:srgbClr val="242424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565C0"/>
            </a:solidFill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242424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16 jobs · 5 crews</c:v>
                </c:pt>
                <c:pt idx="1">
                  <c:v>17 jobs · 4 crews (live)</c:v>
                </c:pt>
                <c:pt idx="2">
                  <c:v>22 jobs · 5 crews</c:v>
                </c:pt>
                <c:pt idx="3">
                  <c:v>30 jobs · 6 crews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0.48699999999999999</c:v>
                </c:pt>
                <c:pt idx="1">
                  <c:v>0.42799999999999999</c:v>
                </c:pt>
                <c:pt idx="2">
                  <c:v>0.56000000000000005</c:v>
                </c:pt>
                <c:pt idx="3">
                  <c:v>0.65200000000000002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B29-4A01-AFAA-D9D9DB6453C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6C8C1"/>
            </a:solidFill>
          </a:ln>
        </c:spPr>
        <c:txPr>
          <a:bodyPr/>
          <a:lstStyle/>
          <a:p>
            <a:pPr>
              <a:defRPr sz="1400">
                <a:solidFill>
                  <a:srgbClr val="242424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78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3728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QualitySentinel AI takes a construction site photograph through to a probable cause and a ranked set of preventive actions for the next pour.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Detection is where inspection stops today. The project adds the next three questions: how serious, why, and how to prevent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objectives, one per stage. The rule throughout: models compute every number, language models only reason over that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public Roboflow datasets were merged and audited before training. The audit removed a greyscale class and near-full-frame boxes. Pour records are synthetic, generated from Abrams' law and IS 456, because linked supplier data is not public.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YOLOv8 finds five defect classes. The most severe defect found is passed to the risk model. Current weights are a 300-image validation run; full GPU training is the open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XGBoost reaches 74.5% against a 44.4% majority baseline. TreeSHAP explains each score toward the High class, so the sign never flips. A blank field is shown as not recorded, never as a measured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specialists each see only their own slice of the evidence and run in parallel. They are given IS 456 values and retrieved statistics instead of recalling them. A chair weighs their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off-target field becomes a candidate fix. The risk model re-scores the pour with fixes applied, and Shapley values share the reduction fairly, because one fix alone barely moves a pour failing on several fronts.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FastAPI serves four endpoints; the React dashboard fills each panel as its stage finishes. The screenshot is a live run on the demo pour.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Detection, then risk scoring, then prevention and investigation in parallel, then the dashboard. Imagery is public; pour records are synthetic but use the real 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layer uses the simplest method whose output can be checked: an object detector, gradient-boosted trees with exact SHAP, Shapley attribution, and agents constrained to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separation test uses three constructed cases with known answers. Each specialist claimed the cause only when its own slice was at fault, and on a compliant pour the chair returned no cause at 0.20.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six modules run end to end. The main limitations are synthetic pour data and the subset-trained detector; the next steps follow directly from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references for the methods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GridRecoveryIQ predicts which line sections of a distribution network are about to fail and, when one does, restores most affected customers by automatic switching before crews are scheduled for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347672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Today a fault drops the whole feeder and restoration waits for a crew to find it. The project adds three steps: predict where faults will happen, switch healthy load back in seconds, and send crews where they save the most customer-minutes.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201302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objectives, one per stage. Every figure on the dashboard comes from the trained model or an optimisation solver, never from the language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036132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network and the three-year history are synthetic but physically reasoned. Outages come from a hidden hazard function the model never sees, which lets the model be measured against the true achievable ceiling.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10650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LightGBM with a strict time-ordered split and isotonic calibration fitted on validation only. ROC-AUC 0.804 against an oracle ceiling of 0.841, about 89% of the achievable skill. TreeSHAP explains each section's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012122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engine isolates the smallest zone, recloses the breaker for upstream load, and uses CP-SAT to move stranded islands onto neighbouring feeders within a 92% loading margin. Across all 187 fault locations it restores 66% of affected customers on average (median 77%) in a median of 75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668046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Dispatch minimises criticality-weighted customer-minutes, not distance. In the live cyclone run it cut weighted customer-minutes from 59.6 M to 34.1 M, 42.8% better than nearest-job-first. On a 16-job instance CP-SAT proves the optimum in 4.9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525024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agents each own one decision. The deterministic engine computes, the agent frames the result, and the LLM only narrates, so the platform runs identically with no API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942494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control room streams live state over server-sent events to a canvas map. Clicking any line section injects a fault and runs the full loop: diagnosis, self-healing and dispatch.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687607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Protection drops the whole feeder even when only a short stretch is damaged, and crews are usually sent nearest-first. The needed system scores risk live, restores healthy load by switching, and ranks crew work by customers affected.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086604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Weather, asset and load data feed the risk model. On a fault the engine isolates it, then self-healing and crew dispatch work from the same plan, and the control room shows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202609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layer uses a method whose output can be verified: calibrated gradient-boosted trees, exact constraint solvers, and a language model restricted to narration.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804924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Outages are random draws from a hidden hazard, so no model can be perfect. Scored against that oracle, the model recovers 89% of the achievable ROC skill and 88% of the achievable recall, with calibration within 0.3% of optimal.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92083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Self-healing and dispatch are measured against a counterfactual that runs in parallel: the same faults with no automatic switching and a nearest-first dispatcher. One invariant test caught a real double-fault bug, now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002088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six modules run end to end. The main limitations are synthetic data and a capacity proxy instead of a full power flow; the next steps address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767576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References for the methods and tools used in GridRecoveryIQ.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08579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QualitySentinel AI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Multimodal Construction Quality Investigation &amp; Prevention Platform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Rushikesh Nirmal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T9932 ·  M.Tech AI &amp; ML, VIT Vellore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QualitySentinel AI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FBF1C79-F076-9149-043B-89849A0594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5930858"/>
          </a:xfrm>
        </p:spPr>
        <p:txBody>
          <a:bodyPr/>
          <a:lstStyle/>
          <a:p>
            <a:pPr marL="0" indent="0">
              <a:buNone/>
            </a:pPr>
            <a:r>
              <a:rPr lang="en-US" sz="2000" b="0" dirty="0">
                <a:solidFill>
                  <a:schemeClr val="tx1"/>
                </a:solidFill>
              </a:rPr>
              <a:t>Construction defects are often identified through site observations or photographs, but identifying a defect is only the first step.</a:t>
            </a:r>
          </a:p>
          <a:p>
            <a:pPr marL="0" indent="0">
              <a:buNone/>
            </a:pPr>
            <a:endParaRPr lang="en-US" sz="2000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chemeClr val="tx1"/>
                </a:solidFill>
              </a:rPr>
              <a:t>The major challenge is to determine: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What happened? → How serious is it? → Why did it happen? → How can it be prevented?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b="0" dirty="0" err="1">
                <a:solidFill>
                  <a:schemeClr val="tx1"/>
                </a:solidFill>
              </a:rPr>
              <a:t>QualitySentinel</a:t>
            </a:r>
            <a:r>
              <a:rPr lang="en-US" sz="2000" b="0" dirty="0">
                <a:solidFill>
                  <a:schemeClr val="tx1"/>
                </a:solidFill>
              </a:rPr>
              <a:t> AI is proposed as a multimodal AI platform that combines:</a:t>
            </a:r>
          </a:p>
          <a:p>
            <a:r>
              <a:rPr lang="en-US" sz="2000" b="0" dirty="0">
                <a:solidFill>
                  <a:schemeClr val="tx1"/>
                </a:solidFill>
              </a:rPr>
              <a:t>Site photographs </a:t>
            </a:r>
          </a:p>
          <a:p>
            <a:r>
              <a:rPr lang="en-US" sz="2000" b="0" dirty="0">
                <a:solidFill>
                  <a:schemeClr val="tx1"/>
                </a:solidFill>
              </a:rPr>
              <a:t>Supplier / material information </a:t>
            </a:r>
          </a:p>
          <a:p>
            <a:r>
              <a:rPr lang="en-US" sz="2000" b="0" dirty="0">
                <a:solidFill>
                  <a:schemeClr val="tx1"/>
                </a:solidFill>
              </a:rPr>
              <a:t>Quality test measurements </a:t>
            </a:r>
          </a:p>
          <a:p>
            <a:r>
              <a:rPr lang="en-US" sz="2000" b="0" dirty="0">
                <a:solidFill>
                  <a:schemeClr val="tx1"/>
                </a:solidFill>
              </a:rPr>
              <a:t>Historical project records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QualitySentinel AI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2AF916A-B177-191F-1238-44B2D9ECC2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80907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chemeClr val="tx1"/>
                </a:solidFill>
              </a:rPr>
              <a:t>To build a multimodal AI platform that detects construction defects from site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chemeClr val="tx1"/>
                </a:solidFill>
              </a:rPr>
              <a:t>photos, assesses quality risk, investigates root causes using multi-agent LLMs, and recommends preventive actions.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Key Objectives</a:t>
            </a:r>
          </a:p>
          <a:p>
            <a:pPr marL="0" indent="0">
              <a:buNone/>
            </a:pPr>
            <a:r>
              <a:rPr lang="en-US" sz="2400" b="0" dirty="0">
                <a:solidFill>
                  <a:schemeClr val="tx1"/>
                </a:solidFill>
              </a:rPr>
              <a:t>1. Defect Detection</a:t>
            </a:r>
            <a:br>
              <a:rPr lang="en-US" sz="2400" b="0" dirty="0">
                <a:solidFill>
                  <a:schemeClr val="tx1"/>
                </a:solidFill>
              </a:rPr>
            </a:br>
            <a:r>
              <a:rPr lang="en-US" sz="2400" b="0" dirty="0">
                <a:solidFill>
                  <a:schemeClr val="tx1"/>
                </a:solidFill>
              </a:rPr>
              <a:t>2. Risk Assessment</a:t>
            </a:r>
            <a:br>
              <a:rPr lang="en-US" sz="2400" b="0" dirty="0">
                <a:solidFill>
                  <a:schemeClr val="tx1"/>
                </a:solidFill>
              </a:rPr>
            </a:br>
            <a:r>
              <a:rPr lang="en-US" sz="2400" b="0" dirty="0">
                <a:solidFill>
                  <a:schemeClr val="tx1"/>
                </a:solidFill>
              </a:rPr>
              <a:t>3. Root-Cause Investigation</a:t>
            </a:r>
            <a:br>
              <a:rPr lang="en-US" sz="2400" b="0" dirty="0">
                <a:solidFill>
                  <a:schemeClr val="tx1"/>
                </a:solidFill>
              </a:rPr>
            </a:br>
            <a:r>
              <a:rPr lang="en-US" sz="2400" b="0" dirty="0">
                <a:solidFill>
                  <a:schemeClr val="tx1"/>
                </a:solidFill>
              </a:rPr>
              <a:t>4. Prevention Recommendation</a:t>
            </a:r>
            <a:br>
              <a:rPr lang="en-US" b="0" dirty="0">
                <a:solidFill>
                  <a:schemeClr val="tx1"/>
                </a:solidFill>
              </a:rPr>
            </a:br>
            <a:endParaRPr lang="en-US" b="0" dirty="0">
              <a:solidFill>
                <a:schemeClr val="tx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5806440" cy="41148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Clean, audited data before any model sees it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Three Roboflow sources merged and remapped to five classes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Audit dropped a greyscale class (Rust) and near-full-frame boxes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4,000 pour records generated from Abrams' law and IS 456, seeded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1 — Data Acquisition &amp; Preparation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QualitySentinel AI</a:t>
            </a:r>
          </a:p>
        </p:txBody>
      </p:sp>
      <p:sp>
        <p:nvSpPr>
          <p:cNvPr id="19" name="Stat 9,278"/>
          <p:cNvSpPr/>
          <p:nvPr/>
        </p:nvSpPr>
        <p:spPr>
          <a:xfrm>
            <a:off x="6446520" y="1463040"/>
            <a:ext cx="2560320" cy="17830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4000" b="1">
                <a:solidFill>
                  <a:srgbClr val="1F4E79"/>
                </a:solidFill>
                <a:latin typeface="Calibri"/>
              </a:rPr>
              <a:t>9,278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5E6462"/>
                </a:solidFill>
                <a:latin typeface="Calibri"/>
              </a:rPr>
              <a:t>site images</a:t>
            </a:r>
          </a:p>
        </p:txBody>
      </p:sp>
      <p:sp>
        <p:nvSpPr>
          <p:cNvPr id="20" name="Stat 21,685"/>
          <p:cNvSpPr/>
          <p:nvPr/>
        </p:nvSpPr>
        <p:spPr>
          <a:xfrm>
            <a:off x="9144000" y="1463040"/>
            <a:ext cx="2560320" cy="17830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4000" b="1">
                <a:solidFill>
                  <a:srgbClr val="1F4E79"/>
                </a:solidFill>
                <a:latin typeface="Calibri"/>
              </a:rPr>
              <a:t>21,685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5E6462"/>
                </a:solidFill>
                <a:latin typeface="Calibri"/>
              </a:rPr>
              <a:t>labelled defect boxes</a:t>
            </a:r>
          </a:p>
        </p:txBody>
      </p:sp>
      <p:sp>
        <p:nvSpPr>
          <p:cNvPr id="21" name="Stat 5"/>
          <p:cNvSpPr/>
          <p:nvPr/>
        </p:nvSpPr>
        <p:spPr>
          <a:xfrm>
            <a:off x="6446520" y="3429000"/>
            <a:ext cx="2560320" cy="17830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4000" b="1">
                <a:solidFill>
                  <a:srgbClr val="1F4E79"/>
                </a:solidFill>
                <a:latin typeface="Calibri"/>
              </a:rPr>
              <a:t>5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5E6462"/>
                </a:solidFill>
                <a:latin typeface="Calibri"/>
              </a:rPr>
              <a:t>defect classes</a:t>
            </a:r>
          </a:p>
        </p:txBody>
      </p:sp>
      <p:sp>
        <p:nvSpPr>
          <p:cNvPr id="22" name="Stat 4,000"/>
          <p:cNvSpPr/>
          <p:nvPr/>
        </p:nvSpPr>
        <p:spPr>
          <a:xfrm>
            <a:off x="9144000" y="3429000"/>
            <a:ext cx="2560320" cy="17830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4000" b="1">
                <a:solidFill>
                  <a:srgbClr val="1F4E79"/>
                </a:solidFill>
                <a:latin typeface="Calibri"/>
              </a:rPr>
              <a:t>4,000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5E6462"/>
                </a:solidFill>
                <a:latin typeface="Calibri"/>
              </a:rPr>
              <a:t>pour records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5806440" cy="41148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What is wrong, and where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YOLOv8 locates five defect classes on a site photo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The most severe defect, and its area, feeds the risk model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Pipeline validated on a 300-image run (mAP@50 0.438); full GPU training is the open item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2 — Construction Defect Detection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QualitySentinel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1F4E79"/>
                </a:solidFill>
                <a:latin typeface="Calibri"/>
              </a:rPr>
              <a:t>Severity order — the worst defect drives risk</a:t>
            </a:r>
          </a:p>
        </p:txBody>
      </p:sp>
      <p:sp>
        <p:nvSpPr>
          <p:cNvPr id="20" name="Severity 1"/>
          <p:cNvSpPr/>
          <p:nvPr/>
        </p:nvSpPr>
        <p:spPr>
          <a:xfrm>
            <a:off x="6446520" y="1874519"/>
            <a:ext cx="5303520" cy="585216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94360" tIns="73152" rIns="128016" bIns="73152" rtlCol="0" anchor="ctr"/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Rebar</a:t>
            </a:r>
            <a:r>
              <a:rPr sz="1500" b="0">
                <a:solidFill>
                  <a:srgbClr val="FFFFFF"/>
                </a:solidFill>
                <a:latin typeface="Calibri"/>
              </a:rPr>
              <a:t>   exposed reinforcement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993391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Severity 2"/>
          <p:cNvSpPr/>
          <p:nvPr/>
        </p:nvSpPr>
        <p:spPr>
          <a:xfrm>
            <a:off x="6446520" y="2569463"/>
            <a:ext cx="5303520" cy="585216"/>
          </a:xfrm>
          <a:prstGeom prst="roundRect">
            <a:avLst>
              <a:gd name="adj" fmla="val 8000"/>
            </a:avLst>
          </a:prstGeom>
          <a:solidFill>
            <a:srgbClr val="2F62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94360" tIns="73152" rIns="128016" bIns="73152" rtlCol="0" anchor="ctr"/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Spalling</a:t>
            </a:r>
            <a:r>
              <a:rPr sz="1500" b="0">
                <a:solidFill>
                  <a:srgbClr val="FFFFFF"/>
                </a:solidFill>
                <a:latin typeface="Calibri"/>
              </a:rPr>
              <a:t>   concrete broken 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688335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Severity 3"/>
          <p:cNvSpPr/>
          <p:nvPr/>
        </p:nvSpPr>
        <p:spPr>
          <a:xfrm>
            <a:off x="6446520" y="3264408"/>
            <a:ext cx="5303520" cy="585216"/>
          </a:xfrm>
          <a:prstGeom prst="roundRect">
            <a:avLst>
              <a:gd name="adj" fmla="val 8000"/>
            </a:avLst>
          </a:prstGeom>
          <a:solidFill>
            <a:srgbClr val="55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94360" tIns="73152" rIns="128016" bIns="73152" rtlCol="0" anchor="ctr"/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Crack</a:t>
            </a:r>
            <a:r>
              <a:rPr sz="1500" b="0">
                <a:solidFill>
                  <a:srgbClr val="FFFFFF"/>
                </a:solidFill>
                <a:latin typeface="Calibri"/>
              </a:rPr>
              <a:t>   surface or through crack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38327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Severity 4"/>
          <p:cNvSpPr/>
          <p:nvPr/>
        </p:nvSpPr>
        <p:spPr>
          <a:xfrm>
            <a:off x="6446520" y="3959352"/>
            <a:ext cx="5303520" cy="585216"/>
          </a:xfrm>
          <a:prstGeom prst="roundRect">
            <a:avLst>
              <a:gd name="adj" fmla="val 8000"/>
            </a:avLst>
          </a:prstGeom>
          <a:solidFill>
            <a:srgbClr val="DD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94360" tIns="73152" rIns="128016" bIns="73152" rtlCol="0" anchor="ctr"/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1F4E79"/>
                </a:solidFill>
                <a:latin typeface="Calibri"/>
              </a:rPr>
              <a:t>Scaling</a:t>
            </a:r>
            <a:r>
              <a:rPr sz="1500" b="0">
                <a:solidFill>
                  <a:srgbClr val="242424"/>
                </a:solidFill>
                <a:latin typeface="Calibri"/>
              </a:rPr>
              <a:t>   surface flaking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07822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1F4E79"/>
                </a:solidFill>
                <a:latin typeface="Calibri"/>
              </a:rPr>
              <a:t>4</a:t>
            </a:r>
          </a:p>
        </p:txBody>
      </p:sp>
      <p:sp>
        <p:nvSpPr>
          <p:cNvPr id="28" name="Severity 5"/>
          <p:cNvSpPr/>
          <p:nvPr/>
        </p:nvSpPr>
        <p:spPr>
          <a:xfrm>
            <a:off x="6446520" y="4654296"/>
            <a:ext cx="5303520" cy="585216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94360" tIns="73152" rIns="128016" bIns="73152" rtlCol="0" anchor="ctr"/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1F4E79"/>
                </a:solidFill>
                <a:latin typeface="Calibri"/>
              </a:rPr>
              <a:t>Efflorescence</a:t>
            </a:r>
            <a:r>
              <a:rPr sz="1500" b="0">
                <a:solidFill>
                  <a:srgbClr val="242424"/>
                </a:solidFill>
                <a:latin typeface="Calibri"/>
              </a:rPr>
              <a:t>   salt deposits on the surface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77316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1F4E79"/>
                </a:solidFill>
                <a:latin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5806440" cy="41148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Severity, and the reasons behind it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XGBoost scores the pour record as Low, Medium or High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Exact TreeSHAP explains every score, always toward High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Blank fields are scored at the median but shown as ‘not recorded’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3 — Quality Risk Assessment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QualitySentinel AI</a:t>
            </a:r>
          </a:p>
        </p:txBody>
      </p:sp>
      <p:sp>
        <p:nvSpPr>
          <p:cNvPr id="19" name="Accuracy"/>
          <p:cNvSpPr/>
          <p:nvPr/>
        </p:nvSpPr>
        <p:spPr>
          <a:xfrm>
            <a:off x="6446520" y="141732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3400" b="1">
                <a:solidFill>
                  <a:srgbClr val="1F4E79"/>
                </a:solidFill>
                <a:latin typeface="Calibri"/>
              </a:rPr>
              <a:t>74.5%</a:t>
            </a:r>
            <a:r>
              <a:rPr sz="1600" b="0">
                <a:solidFill>
                  <a:srgbClr val="5E6462"/>
                </a:solidFill>
                <a:latin typeface="Calibri"/>
              </a:rPr>
              <a:t>   held-out accuracy  ·  baseline 44.4%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5146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1F4E79"/>
                </a:solidFill>
                <a:latin typeface="Calibri"/>
              </a:rPr>
              <a:t>What drove a High score — SHAP contribution</a:t>
            </a:r>
          </a:p>
        </p:txBody>
      </p:sp>
      <p:graphicFrame>
        <p:nvGraphicFramePr>
          <p:cNvPr id="21" name="SHAP chart"/>
          <p:cNvGraphicFramePr>
            <a:graphicFrameLocks noGrp="1"/>
          </p:cNvGraphicFramePr>
          <p:nvPr/>
        </p:nvGraphicFramePr>
        <p:xfrm>
          <a:off x="6400800" y="2834640"/>
          <a:ext cx="53949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5806440" cy="41148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Three slices of evidence, one chair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Three specialists run in parallel, each blind to the others’ evidence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Evidence is supplied, never recalled: IS 456 values and retrieved statistics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‘Insufficient evidence’ is a valid verdict — no data, no blame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4 — Multi-Agent Root-Cause Investigation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QualitySentinel AI</a:t>
            </a:r>
          </a:p>
        </p:txBody>
      </p:sp>
      <p:sp>
        <p:nvSpPr>
          <p:cNvPr id="19" name="Pour record"/>
          <p:cNvSpPr/>
          <p:nvPr/>
        </p:nvSpPr>
        <p:spPr>
          <a:xfrm>
            <a:off x="6400800" y="2788920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Pour record</a:t>
            </a:r>
          </a:p>
          <a:p>
            <a:pPr algn="ctr">
              <a:spcBef>
                <a:spcPts val="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+ defect</a:t>
            </a:r>
          </a:p>
        </p:txBody>
      </p:sp>
      <p:sp>
        <p:nvSpPr>
          <p:cNvPr id="20" name="Specialist Materials"/>
          <p:cNvSpPr/>
          <p:nvPr/>
        </p:nvSpPr>
        <p:spPr>
          <a:xfrm>
            <a:off x="8183879" y="1508760"/>
            <a:ext cx="2148840" cy="9601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700" b="1">
                <a:solidFill>
                  <a:srgbClr val="1F4E79"/>
                </a:solidFill>
                <a:latin typeface="Calibri"/>
              </a:rPr>
              <a:t>Materials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242424"/>
                </a:solidFill>
                <a:latin typeface="Calibri"/>
              </a:rPr>
              <a:t>mix · supply · cover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7726679" y="1988819"/>
            <a:ext cx="457200" cy="1394461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332720" y="1988819"/>
            <a:ext cx="274320" cy="1394461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pecialist Site execution"/>
          <p:cNvSpPr/>
          <p:nvPr/>
        </p:nvSpPr>
        <p:spPr>
          <a:xfrm>
            <a:off x="8183879" y="2788920"/>
            <a:ext cx="2148840" cy="9601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700" b="1">
                <a:solidFill>
                  <a:srgbClr val="1F4E79"/>
                </a:solidFill>
                <a:latin typeface="Calibri"/>
              </a:rPr>
              <a:t>Site execution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242424"/>
                </a:solidFill>
                <a:latin typeface="Calibri"/>
              </a:rPr>
              <a:t>curing · heat · age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7726679" y="3268979"/>
            <a:ext cx="457200" cy="114301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332720" y="3268979"/>
            <a:ext cx="274320" cy="114301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pecialist History"/>
          <p:cNvSpPr/>
          <p:nvPr/>
        </p:nvSpPr>
        <p:spPr>
          <a:xfrm>
            <a:off x="8183879" y="4069079"/>
            <a:ext cx="2148840" cy="9601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700" b="1">
                <a:solidFill>
                  <a:srgbClr val="1F4E79"/>
                </a:solidFill>
                <a:latin typeface="Calibri"/>
              </a:rPr>
              <a:t>History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242424"/>
                </a:solidFill>
                <a:latin typeface="Calibri"/>
              </a:rPr>
              <a:t>matched past pours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26679" y="3383280"/>
            <a:ext cx="457200" cy="1165860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332720" y="3383280"/>
            <a:ext cx="274320" cy="1165860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hair"/>
          <p:cNvSpPr/>
          <p:nvPr/>
        </p:nvSpPr>
        <p:spPr>
          <a:xfrm>
            <a:off x="10607040" y="2788920"/>
            <a:ext cx="1188720" cy="118872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Chair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probable cause · gaps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5806440" cy="41148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Fixes ranked by the risk each one removes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Every off-target field becomes a fix with its IS 456 basis and owner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The risk model re-scores the pour with the fixes applied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Shapley values share the credit — alone, each fix reads near zero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5 — Preventive Action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QualitySentinel AI</a:t>
            </a:r>
          </a:p>
        </p:txBody>
      </p:sp>
      <p:sp>
        <p:nvSpPr>
          <p:cNvPr id="19" name="Shift"/>
          <p:cNvSpPr/>
          <p:nvPr/>
        </p:nvSpPr>
        <p:spPr>
          <a:xfrm>
            <a:off x="6446520" y="141732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3200" b="1">
                <a:solidFill>
                  <a:srgbClr val="B33A12"/>
                </a:solidFill>
                <a:latin typeface="Calibri"/>
              </a:rPr>
              <a:t>High</a:t>
            </a:r>
            <a:r>
              <a:rPr sz="2800" b="1">
                <a:solidFill>
                  <a:srgbClr val="5E6462"/>
                </a:solidFill>
                <a:latin typeface="Calibri"/>
              </a:rPr>
              <a:t>  →  </a:t>
            </a:r>
            <a:r>
              <a:rPr sz="3200" b="1">
                <a:solidFill>
                  <a:srgbClr val="9C8400"/>
                </a:solidFill>
                <a:latin typeface="Calibri"/>
              </a:rPr>
              <a:t>Medium</a:t>
            </a:r>
            <a:r>
              <a:rPr sz="1600" b="0">
                <a:solidFill>
                  <a:srgbClr val="5E6462"/>
                </a:solidFill>
                <a:latin typeface="Calibri"/>
              </a:rPr>
              <a:t>    all six fixes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5146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1F4E79"/>
                </a:solidFill>
                <a:latin typeface="Calibri"/>
              </a:rPr>
              <a:t>Share of the risk removed</a:t>
            </a:r>
          </a:p>
        </p:txBody>
      </p:sp>
      <p:graphicFrame>
        <p:nvGraphicFramePr>
          <p:cNvPr id="21" name="Shapley chart"/>
          <p:cNvGraphicFramePr>
            <a:graphicFrameLocks noGrp="1"/>
          </p:cNvGraphicFramePr>
          <p:nvPr/>
        </p:nvGraphicFramePr>
        <p:xfrm>
          <a:off x="6400800" y="2834640"/>
          <a:ext cx="53949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5394960" cy="41148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One photograph in, every stage on one screen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FastAPI serves /detect, /assess, /prevent and /investigate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React dashboard fills each panel as its stage finishes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Detection, risk and fixes in about a second; agents in about five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6 — Dashboard &amp; Deployment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QualitySentinel AI</a:t>
            </a:r>
          </a:p>
        </p:txBody>
      </p:sp>
      <p:pic>
        <p:nvPicPr>
          <p:cNvPr id="19" name="Dashboard screenshot" descr="13c0907b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754" y="1371600"/>
            <a:ext cx="4520691" cy="3703320"/>
          </a:xfrm>
          <a:prstGeom prst="rect">
            <a:avLst/>
          </a:prstGeom>
          <a:ln w="12700">
            <a:solidFill>
              <a:srgbClr val="C6C8C1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5806440" y="5166360"/>
            <a:ext cx="5989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>
                <a:solidFill>
                  <a:srgbClr val="5E6462"/>
                </a:solidFill>
                <a:latin typeface="Calibri"/>
              </a:rPr>
              <a:t>Live run on the demo pour — risk on the left, ranked fixes on the right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11338560" cy="9144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Models compute every number; language models only reason over the evidence.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QualitySentinel AI</a:t>
            </a:r>
          </a:p>
        </p:txBody>
      </p:sp>
      <p:sp>
        <p:nvSpPr>
          <p:cNvPr id="7" name="Site photo"/>
          <p:cNvSpPr/>
          <p:nvPr/>
        </p:nvSpPr>
        <p:spPr>
          <a:xfrm>
            <a:off x="320040" y="2743200"/>
            <a:ext cx="1600200" cy="1097280"/>
          </a:xfrm>
          <a:prstGeom prst="roundRect">
            <a:avLst>
              <a:gd name="adj" fmla="val 8000"/>
            </a:avLst>
          </a:prstGeom>
          <a:solidFill>
            <a:srgbClr val="F1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Site photo</a:t>
            </a:r>
          </a:p>
          <a:p>
            <a:pPr algn="ctr">
              <a:spcBef>
                <a:spcPts val="200"/>
              </a:spcBef>
            </a:pPr>
            <a:r>
              <a:rPr sz="1400" b="0">
                <a:solidFill>
                  <a:srgbClr val="242424"/>
                </a:solidFill>
                <a:latin typeface="Calibri"/>
              </a:rPr>
              <a:t>+ pour record</a:t>
            </a:r>
          </a:p>
        </p:txBody>
      </p:sp>
      <p:sp>
        <p:nvSpPr>
          <p:cNvPr id="8" name="Detect"/>
          <p:cNvSpPr/>
          <p:nvPr/>
        </p:nvSpPr>
        <p:spPr>
          <a:xfrm>
            <a:off x="2331720" y="274320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Detect</a:t>
            </a:r>
          </a:p>
          <a:p>
            <a:pPr algn="ctr">
              <a:spcBef>
                <a:spcPts val="200"/>
              </a:spcBef>
            </a:pPr>
            <a:r>
              <a:rPr sz="1400" b="0">
                <a:solidFill>
                  <a:srgbClr val="242424"/>
                </a:solidFill>
                <a:latin typeface="Calibri"/>
              </a:rPr>
              <a:t>YOLOv8</a:t>
            </a:r>
          </a:p>
        </p:txBody>
      </p:sp>
      <p:sp>
        <p:nvSpPr>
          <p:cNvPr id="9" name="Score"/>
          <p:cNvSpPr/>
          <p:nvPr/>
        </p:nvSpPr>
        <p:spPr>
          <a:xfrm>
            <a:off x="4572000" y="2743200"/>
            <a:ext cx="1965960" cy="1097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Score</a:t>
            </a:r>
          </a:p>
          <a:p>
            <a:pPr algn="ctr">
              <a:spcBef>
                <a:spcPts val="200"/>
              </a:spcBef>
            </a:pPr>
            <a:r>
              <a:rPr sz="1400" b="0">
                <a:solidFill>
                  <a:srgbClr val="242424"/>
                </a:solidFill>
                <a:latin typeface="Calibri"/>
              </a:rPr>
              <a:t>XGBoost + SHAP</a:t>
            </a:r>
          </a:p>
        </p:txBody>
      </p:sp>
      <p:sp>
        <p:nvSpPr>
          <p:cNvPr id="10" name="Arrow"/>
          <p:cNvSpPr/>
          <p:nvPr/>
        </p:nvSpPr>
        <p:spPr>
          <a:xfrm>
            <a:off x="1938528" y="3145536"/>
            <a:ext cx="347472" cy="292608"/>
          </a:xfrm>
          <a:prstGeom prst="rightArrow">
            <a:avLst/>
          </a:prstGeom>
          <a:solidFill>
            <a:srgbClr val="A9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rrow"/>
          <p:cNvSpPr/>
          <p:nvPr/>
        </p:nvSpPr>
        <p:spPr>
          <a:xfrm>
            <a:off x="4178808" y="3145536"/>
            <a:ext cx="347472" cy="292608"/>
          </a:xfrm>
          <a:prstGeom prst="rightArrow">
            <a:avLst/>
          </a:prstGeom>
          <a:solidFill>
            <a:srgbClr val="A9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revent"/>
          <p:cNvSpPr/>
          <p:nvPr/>
        </p:nvSpPr>
        <p:spPr>
          <a:xfrm>
            <a:off x="6995160" y="224028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Prevent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counterfactual + Shapley</a:t>
            </a:r>
          </a:p>
        </p:txBody>
      </p:sp>
      <p:sp>
        <p:nvSpPr>
          <p:cNvPr id="13" name="Investigate"/>
          <p:cNvSpPr/>
          <p:nvPr/>
        </p:nvSpPr>
        <p:spPr>
          <a:xfrm>
            <a:off x="6995160" y="34290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Investigate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3 specialists + chair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537960" y="2697480"/>
            <a:ext cx="457200" cy="594360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3291840"/>
            <a:ext cx="457200" cy="594360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326880" y="2697480"/>
            <a:ext cx="365760" cy="594360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326880" y="3291840"/>
            <a:ext cx="365760" cy="594360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ashboard"/>
          <p:cNvSpPr/>
          <p:nvPr/>
        </p:nvSpPr>
        <p:spPr>
          <a:xfrm>
            <a:off x="9692640" y="2743200"/>
            <a:ext cx="2057400" cy="1097280"/>
          </a:xfrm>
          <a:prstGeom prst="roundRect">
            <a:avLst>
              <a:gd name="adj" fmla="val 8000"/>
            </a:avLst>
          </a:prstGeom>
          <a:solidFill>
            <a:srgbClr val="F1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Dashboard</a:t>
            </a:r>
          </a:p>
          <a:p>
            <a:pPr algn="ctr">
              <a:spcBef>
                <a:spcPts val="200"/>
              </a:spcBef>
            </a:pPr>
            <a:r>
              <a:rPr sz="1400" b="0">
                <a:solidFill>
                  <a:srgbClr val="242424"/>
                </a:solidFill>
                <a:latin typeface="Calibri"/>
              </a:rPr>
              <a:t>FastAPI + React</a:t>
            </a:r>
          </a:p>
        </p:txBody>
      </p:sp>
      <p:sp>
        <p:nvSpPr>
          <p:cNvPr id="19" name="Data Imagery"/>
          <p:cNvSpPr/>
          <p:nvPr/>
        </p:nvSpPr>
        <p:spPr>
          <a:xfrm>
            <a:off x="320040" y="4617720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1F4E79"/>
                </a:solidFill>
                <a:latin typeface="Calibri"/>
              </a:rPr>
              <a:t>Imagery  </a:t>
            </a:r>
            <a:r>
              <a:rPr sz="1400" b="0">
                <a:solidFill>
                  <a:srgbClr val="242424"/>
                </a:solidFill>
                <a:latin typeface="Calibri"/>
              </a:rPr>
              <a:t>3 public datasets, CC BY 4.0</a:t>
            </a:r>
          </a:p>
        </p:txBody>
      </p:sp>
      <p:sp>
        <p:nvSpPr>
          <p:cNvPr id="20" name="Data Pour records"/>
          <p:cNvSpPr/>
          <p:nvPr/>
        </p:nvSpPr>
        <p:spPr>
          <a:xfrm>
            <a:off x="4160520" y="4617720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1F4E79"/>
                </a:solidFill>
                <a:latin typeface="Calibri"/>
              </a:rPr>
              <a:t>Pour records  </a:t>
            </a:r>
            <a:r>
              <a:rPr sz="1400" b="0">
                <a:solidFill>
                  <a:srgbClr val="242424"/>
                </a:solidFill>
                <a:latin typeface="Calibri"/>
              </a:rPr>
              <a:t>synthetic, from Abrams' law and IS 456</a:t>
            </a:r>
          </a:p>
        </p:txBody>
      </p:sp>
      <p:sp>
        <p:nvSpPr>
          <p:cNvPr id="21" name="Data Schema"/>
          <p:cNvSpPr/>
          <p:nvPr/>
        </p:nvSpPr>
        <p:spPr>
          <a:xfrm>
            <a:off x="8001000" y="4617720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1F4E79"/>
                </a:solidFill>
                <a:latin typeface="Calibri"/>
              </a:rPr>
              <a:t>Schema  </a:t>
            </a:r>
            <a:r>
              <a:rPr sz="1400" b="0">
                <a:solidFill>
                  <a:srgbClr val="242424"/>
                </a:solidFill>
                <a:latin typeface="Calibri"/>
              </a:rPr>
              <a:t>real fields — site data drops in unchanged</a:t>
            </a: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11338560" cy="64008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Each layer uses the simplest method whose output can be checked.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QualitySentinel AI</a:t>
            </a:r>
          </a:p>
        </p:txBody>
      </p:sp>
      <p:sp>
        <p:nvSpPr>
          <p:cNvPr id="7" name="Layer Detection"/>
          <p:cNvSpPr/>
          <p:nvPr/>
        </p:nvSpPr>
        <p:spPr>
          <a:xfrm>
            <a:off x="320040" y="210312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128016" bIns="73152" rtlCol="0" anchor="ctr"/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Detection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YOLOv8 object detection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E6462"/>
                </a:solidFill>
                <a:latin typeface="Calibri"/>
              </a:rPr>
              <a:t>Ultralytics · OpenCV · Pillow</a:t>
            </a:r>
          </a:p>
        </p:txBody>
      </p:sp>
      <p:sp>
        <p:nvSpPr>
          <p:cNvPr id="8" name="Layer Risk scoring"/>
          <p:cNvSpPr/>
          <p:nvPr/>
        </p:nvSpPr>
        <p:spPr>
          <a:xfrm>
            <a:off x="4160520" y="210312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128016" bIns="73152" rtlCol="0" anchor="ctr"/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Risk scoring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Gradient-boosted trees + exact TreeSHAP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E6462"/>
                </a:solidFill>
                <a:latin typeface="Calibri"/>
              </a:rPr>
              <a:t>XGBoost · scikit-learn · joblib</a:t>
            </a:r>
          </a:p>
        </p:txBody>
      </p:sp>
      <p:sp>
        <p:nvSpPr>
          <p:cNvPr id="9" name="Layer Prevention"/>
          <p:cNvSpPr/>
          <p:nvPr/>
        </p:nvSpPr>
        <p:spPr>
          <a:xfrm>
            <a:off x="8001000" y="210312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128016" bIns="73152" rtlCol="0" anchor="ctr"/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Prevention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Counterfactual re-scoring + Shapley values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E6462"/>
                </a:solidFill>
                <a:latin typeface="Calibri"/>
              </a:rPr>
              <a:t>Python on the trained risk model</a:t>
            </a:r>
          </a:p>
        </p:txBody>
      </p:sp>
      <p:sp>
        <p:nvSpPr>
          <p:cNvPr id="10" name="Layer Investigation"/>
          <p:cNvSpPr/>
          <p:nvPr/>
        </p:nvSpPr>
        <p:spPr>
          <a:xfrm>
            <a:off x="320040" y="3749039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128016" bIns="73152" rtlCol="0" anchor="ctr"/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Investigation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Parallel specialist agents + a chair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E6462"/>
                </a:solidFill>
                <a:latin typeface="Calibri"/>
              </a:rPr>
              <a:t>gpt-oss-120b on Groq · JSON output</a:t>
            </a:r>
          </a:p>
        </p:txBody>
      </p:sp>
      <p:sp>
        <p:nvSpPr>
          <p:cNvPr id="11" name="Layer Service"/>
          <p:cNvSpPr/>
          <p:nvPr/>
        </p:nvSpPr>
        <p:spPr>
          <a:xfrm>
            <a:off x="4160520" y="3749039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128016" bIns="73152" rtlCol="0" anchor="ctr"/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Service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Typed REST API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E6462"/>
                </a:solidFill>
                <a:latin typeface="Calibri"/>
              </a:rPr>
              <a:t>FastAPI · Pydantic · Uvicorn</a:t>
            </a:r>
          </a:p>
        </p:txBody>
      </p:sp>
      <p:sp>
        <p:nvSpPr>
          <p:cNvPr id="12" name="Layer Dashboard"/>
          <p:cNvSpPr/>
          <p:nvPr/>
        </p:nvSpPr>
        <p:spPr>
          <a:xfrm>
            <a:off x="8001000" y="3749039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128016" bIns="73152" rtlCol="0" anchor="ctr"/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Dashboard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Progressive single-page app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E6462"/>
                </a:solidFill>
                <a:latin typeface="Calibri"/>
              </a:rPr>
              <a:t>React · Vite · hand-built SVG charts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11338560" cy="64008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Each specialist blamed its own slice only when that slice was at fault.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QualitySentinel AI</a:t>
            </a:r>
          </a:p>
        </p:txBody>
      </p:sp>
      <p:sp>
        <p:nvSpPr>
          <p:cNvPr id="7" name="Stat 74.5%"/>
          <p:cNvSpPr/>
          <p:nvPr/>
        </p:nvSpPr>
        <p:spPr>
          <a:xfrm>
            <a:off x="320040" y="2103120"/>
            <a:ext cx="3108960" cy="102412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3200" b="1">
                <a:solidFill>
                  <a:srgbClr val="1F4E79"/>
                </a:solidFill>
                <a:latin typeface="Calibri"/>
              </a:rPr>
              <a:t>74.5%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5E6462"/>
                </a:solidFill>
                <a:latin typeface="Calibri"/>
              </a:rPr>
              <a:t>risk accuracy · baseline 44.4%</a:t>
            </a:r>
          </a:p>
        </p:txBody>
      </p:sp>
      <p:sp>
        <p:nvSpPr>
          <p:cNvPr id="8" name="Stat 3 / 3"/>
          <p:cNvSpPr/>
          <p:nvPr/>
        </p:nvSpPr>
        <p:spPr>
          <a:xfrm>
            <a:off x="320040" y="3218688"/>
            <a:ext cx="3108960" cy="102412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3200" b="1">
                <a:solidFill>
                  <a:srgbClr val="1F4E79"/>
                </a:solidFill>
                <a:latin typeface="Calibri"/>
              </a:rPr>
              <a:t>3 / 3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5E6462"/>
                </a:solidFill>
                <a:latin typeface="Calibri"/>
              </a:rPr>
              <a:t>separation cases passed</a:t>
            </a:r>
          </a:p>
        </p:txBody>
      </p:sp>
      <p:sp>
        <p:nvSpPr>
          <p:cNvPr id="9" name="Stat 0.20"/>
          <p:cNvSpPr/>
          <p:nvPr/>
        </p:nvSpPr>
        <p:spPr>
          <a:xfrm>
            <a:off x="320040" y="4334256"/>
            <a:ext cx="3108960" cy="102412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3200" b="1">
                <a:solidFill>
                  <a:srgbClr val="1F4E79"/>
                </a:solidFill>
                <a:latin typeface="Calibri"/>
              </a:rPr>
              <a:t>0.20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5E6462"/>
                </a:solidFill>
                <a:latin typeface="Calibri"/>
              </a:rPr>
              <a:t>confidence on a compliant pour</a:t>
            </a:r>
          </a:p>
        </p:txBody>
      </p:sp>
      <p:graphicFrame>
        <p:nvGraphicFramePr>
          <p:cNvPr id="10" name="Separation table"/>
          <p:cNvGraphicFramePr>
            <a:graphicFrameLocks noGrp="1"/>
          </p:cNvGraphicFramePr>
          <p:nvPr/>
        </p:nvGraphicFramePr>
        <p:xfrm>
          <a:off x="3657600" y="2103120"/>
          <a:ext cx="8092439" cy="3255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1381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Case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Materials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Site execution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History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Chair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Bad mix, good site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B33A12"/>
                          </a:solidFill>
                          <a:latin typeface="Calibri"/>
                        </a:rPr>
                        <a:t>Primary 0.95</a:t>
                      </a:r>
                    </a:p>
                  </a:txBody>
                  <a:tcPr anchor="ctr">
                    <a:solidFill>
                      <a:srgbClr val="F6D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42424"/>
                          </a:solidFill>
                          <a:latin typeface="Calibri"/>
                        </a:rPr>
                        <a:t>Not a factor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42424"/>
                          </a:solidFill>
                          <a:latin typeface="Calibri"/>
                        </a:rPr>
                        <a:t>Contributing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42424"/>
                          </a:solidFill>
                          <a:latin typeface="Calibri"/>
                        </a:rPr>
                        <a:t>Cover depth · 0.92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Good mix, bad site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42424"/>
                          </a:solidFill>
                          <a:latin typeface="Calibri"/>
                        </a:rPr>
                        <a:t>Not a factor 0.95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B33A12"/>
                          </a:solidFill>
                          <a:latin typeface="Calibri"/>
                        </a:rPr>
                        <a:t>Primary 0.95</a:t>
                      </a:r>
                    </a:p>
                  </a:txBody>
                  <a:tcPr anchor="ctr">
                    <a:solidFill>
                      <a:srgbClr val="F6D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B33A12"/>
                          </a:solidFill>
                          <a:latin typeface="Calibri"/>
                        </a:rPr>
                        <a:t>Primary</a:t>
                      </a:r>
                    </a:p>
                  </a:txBody>
                  <a:tcPr anchor="ctr">
                    <a:solidFill>
                      <a:srgbClr val="F6D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42424"/>
                          </a:solidFill>
                          <a:latin typeface="Calibri"/>
                        </a:rPr>
                        <a:t>Curing · 0.88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All within spec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42424"/>
                          </a:solidFill>
                          <a:latin typeface="Calibri"/>
                        </a:rPr>
                        <a:t>Not a factor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42424"/>
                          </a:solidFill>
                          <a:latin typeface="Calibri"/>
                        </a:rPr>
                        <a:t>Not a factor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42424"/>
                          </a:solidFill>
                          <a:latin typeface="Calibri"/>
                        </a:rPr>
                        <a:t>Not a factor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42424"/>
                          </a:solidFill>
                          <a:latin typeface="Calibri"/>
                        </a:rPr>
                        <a:t>No cause · 0.20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11338560" cy="64008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All six modules run end to end from one site photograph.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QualitySentinel AI</a:t>
            </a:r>
          </a:p>
        </p:txBody>
      </p:sp>
      <p:sp>
        <p:nvSpPr>
          <p:cNvPr id="7" name="Delivered"/>
          <p:cNvSpPr/>
          <p:nvPr/>
        </p:nvSpPr>
        <p:spPr>
          <a:xfrm>
            <a:off x="320040" y="210312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182880" bIns="73152" rtlCol="0" anchor="t"/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FFFFFF"/>
                </a:solidFill>
                <a:latin typeface="Calibri"/>
              </a:rPr>
              <a:t>Delivered</a:t>
            </a:r>
          </a:p>
          <a:p>
            <a:pPr marL="237744" indent="-237744" algn="l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FFFFFF"/>
                </a:solidFill>
                <a:latin typeface="Calibri"/>
              </a:rPr>
              <a:t>Photo → risk → cause → fixes on one screen</a:t>
            </a:r>
          </a:p>
          <a:p>
            <a:pPr marL="237744" indent="-237744" algn="l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FFFFFF"/>
                </a:solidFill>
                <a:latin typeface="Calibri"/>
              </a:rPr>
              <a:t>Every number computed by a model, not generated</a:t>
            </a:r>
          </a:p>
          <a:p>
            <a:pPr marL="237744" indent="-237744" algn="l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FFFFFF"/>
                </a:solidFill>
                <a:latin typeface="Calibri"/>
              </a:rPr>
              <a:t>Missing data stated, never guessed</a:t>
            </a:r>
          </a:p>
        </p:txBody>
      </p:sp>
      <p:sp>
        <p:nvSpPr>
          <p:cNvPr id="8" name="Limitations"/>
          <p:cNvSpPr/>
          <p:nvPr/>
        </p:nvSpPr>
        <p:spPr>
          <a:xfrm>
            <a:off x="4160520" y="210312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F1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182880" bIns="73152" rtlCol="0" anchor="t"/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1F4E79"/>
                </a:solidFill>
                <a:latin typeface="Calibri"/>
              </a:rPr>
              <a:t>Limitations</a:t>
            </a:r>
          </a:p>
          <a:p>
            <a:pPr marL="237744" indent="-237744" algn="l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242424"/>
                </a:solidFill>
                <a:latin typeface="Calibri"/>
              </a:rPr>
              <a:t>Pour records are synthetic</a:t>
            </a:r>
          </a:p>
          <a:p>
            <a:pPr marL="237744" indent="-237744" algn="l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242424"/>
                </a:solidFill>
                <a:latin typeface="Calibri"/>
              </a:rPr>
              <a:t>Detector trained on a 300-image run</a:t>
            </a:r>
          </a:p>
          <a:p>
            <a:pPr marL="237744" indent="-237744" algn="l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242424"/>
                </a:solidFill>
                <a:latin typeface="Calibri"/>
              </a:rPr>
              <a:t>Fields treated as independent in the counterfactual</a:t>
            </a:r>
          </a:p>
        </p:txBody>
      </p:sp>
      <p:sp>
        <p:nvSpPr>
          <p:cNvPr id="9" name="Next steps"/>
          <p:cNvSpPr/>
          <p:nvPr/>
        </p:nvSpPr>
        <p:spPr>
          <a:xfrm>
            <a:off x="8001000" y="210312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182880" bIns="73152" rtlCol="0" anchor="t"/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1F4E79"/>
                </a:solidFill>
                <a:latin typeface="Calibri"/>
              </a:rPr>
              <a:t>Next steps</a:t>
            </a:r>
          </a:p>
          <a:p>
            <a:pPr marL="237744" indent="-237744" algn="l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242424"/>
                </a:solidFill>
                <a:latin typeface="Calibri"/>
              </a:rPr>
              <a:t>Full-dataset GPU training of the detector</a:t>
            </a:r>
          </a:p>
          <a:p>
            <a:pPr marL="237744" indent="-237744" algn="l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242424"/>
                </a:solidFill>
                <a:latin typeface="Calibri"/>
              </a:rPr>
              <a:t>Crack size from the crack, not its box</a:t>
            </a:r>
          </a:p>
          <a:p>
            <a:pPr marL="237744" indent="-237744" algn="l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242424"/>
                </a:solidFill>
                <a:latin typeface="Calibri"/>
              </a:rPr>
              <a:t>Persist inspections; verify the IS 456 table</a:t>
            </a:r>
          </a:p>
          <a:p>
            <a:pPr marL="237744" indent="-237744" algn="l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242424"/>
                </a:solidFill>
                <a:latin typeface="Calibri"/>
              </a:rPr>
              <a:t>Containerise for deployment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11430000" cy="4206240"/>
          </a:xfrm>
        </p:spPr>
        <p:txBody>
          <a:bodyPr wrap="square"/>
          <a:lstStyle/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[1]  G. Jocher, A. Chaurasia, J. Qiu, “Ultralytics YOLOv8,” 2023. github.com/ultralytics/ultralytics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[2]  T. Chen, C. Guestrin, “XGBoost: A Scalable Tree Boosting System,” Proc. ACM SIGKDD, pp. 785–794, 2016.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[3]  S. M. Lundberg, S.-I. Lee, “A Unified Approach to Interpreting Model Predictions,” NeurIPS, 2017.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[4]  S. M. Lundberg et al., “From local explanations to global understanding with explainable AI for trees,” Nature Machine Intelligence, 2, pp. 56–67, 2020.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[5]  L. S. Shapley, “A Value for n-Person Games,” Contributions to the Theory of Games II, Princeton Univ. Press, pp. 307–317, 1953.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[6]  P. Lewis et al., “Retrieval-Augmented Generation for Knowledge-Intensive NLP Tasks,” NeurIPS, 2020.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[7]  OpenAI, “gpt-oss-120b &amp; gpt-oss-20b Model Card,” 2025.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[8]  Bureau of Indian Standards, IS 456:2000 — Plain and Reinforced Concrete, Code of Practice (Fourth Revision).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[9]  D. A. Abrams, “Design of Concrete Mixtures,” Bulletin 1, Structural Materials Research Laboratory, Lewis Institute, 1918.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[10]  Chow et al., Automation in Construction, 2021 — construction defect detection.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[11]  Wang &amp; El-Gohary, Automation in Construction, 2024 — construction-site visual compliance.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[12]  Roboflow Universe — public concrete crack, spalling and defect datasets, CC BY 4.0.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QualitySentinel AI</a:t>
            </a:r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GridRecoveryIQ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Agentic Outage Risk Prediction &amp; Self-Healing Restoration Platform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Rushikesh Nirmal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T9932  ·  M.Tech AI &amp; ML, VIT Vellore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942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11338560" cy="914400"/>
          </a:xfrm>
        </p:spPr>
        <p:txBody>
          <a:bodyPr wrap="square"/>
          <a:lstStyle/>
          <a:p>
            <a:pPr marL="0" indent="0">
              <a:buNone/>
            </a:pPr>
            <a:r>
              <a:rPr lang="en-US" sz="2400" b="0" dirty="0">
                <a:solidFill>
                  <a:schemeClr val="tx1"/>
                </a:solidFill>
              </a:rPr>
              <a:t>Power-grid outages can occur due to multiple interacting factors such as weather conditions, electricity demand, and the condition of grid assets.</a:t>
            </a:r>
          </a:p>
          <a:p>
            <a:pPr marL="0" indent="0">
              <a:buNone/>
            </a:pPr>
            <a:endParaRPr lang="en-US" sz="2400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chemeClr val="tx1"/>
                </a:solidFill>
              </a:rPr>
              <a:t>For a utility, identifying an outage is only the beginning. The important questions are: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What caused the outage? → How critical is it? → Which constraints exist? → Which crew should be dispatched first?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b="0" dirty="0" err="1">
                <a:solidFill>
                  <a:schemeClr val="tx1"/>
                </a:solidFill>
              </a:rPr>
              <a:t>GridRecoveryIQ</a:t>
            </a:r>
            <a:r>
              <a:rPr lang="en-US" sz="2400" b="0" dirty="0">
                <a:solidFill>
                  <a:schemeClr val="tx1"/>
                </a:solidFill>
              </a:rPr>
              <a:t> is a proposed agentic AI platform designed to support outage prediction, outage assessment and optimized restoration.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GridRecoveryIQ</a:t>
            </a:r>
          </a:p>
        </p:txBody>
      </p:sp>
    </p:spTree>
    <p:extLst>
      <p:ext uri="{BB962C8B-B14F-4D97-AF65-F5344CB8AC3E}">
        <p14:creationId xmlns:p14="http://schemas.microsoft.com/office/powerpoint/2010/main" val="2079589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11338560" cy="9144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From storm forecast to restored supply — every number computed, never generated.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GridRecoveryIQ</a:t>
            </a:r>
          </a:p>
        </p:txBody>
      </p:sp>
      <p:sp>
        <p:nvSpPr>
          <p:cNvPr id="7" name="Objective 1"/>
          <p:cNvSpPr/>
          <p:nvPr/>
        </p:nvSpPr>
        <p:spPr>
          <a:xfrm>
            <a:off x="320040" y="2377440"/>
            <a:ext cx="2176272" cy="2240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85800" rIns="128016" bIns="73152" rtlCol="0" anchor="t"/>
          <a:lstStyle/>
          <a:p>
            <a:pPr algn="ctr">
              <a:spcBef>
                <a:spcPts val="0"/>
              </a:spcBef>
            </a:pPr>
            <a:r>
              <a:rPr sz="2200" b="1">
                <a:solidFill>
                  <a:srgbClr val="1F4E79"/>
                </a:solidFill>
                <a:latin typeface="Calibri"/>
              </a:rPr>
              <a:t>Predict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Failure risk for all 187 line sections</a:t>
            </a:r>
          </a:p>
        </p:txBody>
      </p:sp>
      <p:sp>
        <p:nvSpPr>
          <p:cNvPr id="8" name="Badge 1"/>
          <p:cNvSpPr/>
          <p:nvPr/>
        </p:nvSpPr>
        <p:spPr>
          <a:xfrm>
            <a:off x="1179576" y="2587752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Objective 2"/>
          <p:cNvSpPr/>
          <p:nvPr/>
        </p:nvSpPr>
        <p:spPr>
          <a:xfrm>
            <a:off x="2660904" y="2377440"/>
            <a:ext cx="2176272" cy="2240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85800" rIns="128016" bIns="73152" rtlCol="0" anchor="t"/>
          <a:lstStyle/>
          <a:p>
            <a:pPr algn="ctr">
              <a:spcBef>
                <a:spcPts val="0"/>
              </a:spcBef>
            </a:pPr>
            <a:r>
              <a:rPr sz="2200" b="1">
                <a:solidFill>
                  <a:srgbClr val="1F4E79"/>
                </a:solidFill>
                <a:latin typeface="Calibri"/>
              </a:rPr>
              <a:t>Isolate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Smallest switchable zone around a fault</a:t>
            </a:r>
          </a:p>
        </p:txBody>
      </p:sp>
      <p:sp>
        <p:nvSpPr>
          <p:cNvPr id="10" name="Badge 2"/>
          <p:cNvSpPr/>
          <p:nvPr/>
        </p:nvSpPr>
        <p:spPr>
          <a:xfrm>
            <a:off x="3520439" y="2587752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Objective 3"/>
          <p:cNvSpPr/>
          <p:nvPr/>
        </p:nvSpPr>
        <p:spPr>
          <a:xfrm>
            <a:off x="5001768" y="2377440"/>
            <a:ext cx="2176272" cy="2240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85800" rIns="128016" bIns="73152" rtlCol="0" anchor="t"/>
          <a:lstStyle/>
          <a:p>
            <a:pPr algn="ctr">
              <a:spcBef>
                <a:spcPts val="0"/>
              </a:spcBef>
            </a:pPr>
            <a:r>
              <a:rPr sz="2200" b="1">
                <a:solidFill>
                  <a:srgbClr val="1F4E79"/>
                </a:solidFill>
                <a:latin typeface="Calibri"/>
              </a:rPr>
              <a:t>Restore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Healthy load moved onto neighbouring feeders</a:t>
            </a:r>
          </a:p>
        </p:txBody>
      </p:sp>
      <p:sp>
        <p:nvSpPr>
          <p:cNvPr id="12" name="Badge 3"/>
          <p:cNvSpPr/>
          <p:nvPr/>
        </p:nvSpPr>
        <p:spPr>
          <a:xfrm>
            <a:off x="5861304" y="2587752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Objective 4"/>
          <p:cNvSpPr/>
          <p:nvPr/>
        </p:nvSpPr>
        <p:spPr>
          <a:xfrm>
            <a:off x="7342631" y="2377440"/>
            <a:ext cx="2176272" cy="2240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85800" rIns="128016" bIns="73152" rtlCol="0" anchor="t"/>
          <a:lstStyle/>
          <a:p>
            <a:pPr algn="ctr">
              <a:spcBef>
                <a:spcPts val="0"/>
              </a:spcBef>
            </a:pPr>
            <a:r>
              <a:rPr sz="2200" b="1">
                <a:solidFill>
                  <a:srgbClr val="1F4E79"/>
                </a:solidFill>
                <a:latin typeface="Calibri"/>
              </a:rPr>
              <a:t>Dispatch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Crews sequenced to cut customer-minutes</a:t>
            </a:r>
          </a:p>
        </p:txBody>
      </p:sp>
      <p:sp>
        <p:nvSpPr>
          <p:cNvPr id="14" name="Badge 4"/>
          <p:cNvSpPr/>
          <p:nvPr/>
        </p:nvSpPr>
        <p:spPr>
          <a:xfrm>
            <a:off x="8202167" y="2587752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Objective 5"/>
          <p:cNvSpPr/>
          <p:nvPr/>
        </p:nvSpPr>
        <p:spPr>
          <a:xfrm>
            <a:off x="9683496" y="2377440"/>
            <a:ext cx="2176272" cy="2240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85800" rIns="128016" bIns="73152" rtlCol="0" anchor="t"/>
          <a:lstStyle/>
          <a:p>
            <a:pPr algn="ctr">
              <a:spcBef>
                <a:spcPts val="0"/>
              </a:spcBef>
            </a:pPr>
            <a:r>
              <a:rPr sz="2200" b="1">
                <a:solidFill>
                  <a:srgbClr val="1F4E79"/>
                </a:solidFill>
                <a:latin typeface="Calibri"/>
              </a:rPr>
              <a:t>Explain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Agents narrate; a live control room shows it</a:t>
            </a:r>
          </a:p>
        </p:txBody>
      </p:sp>
      <p:sp>
        <p:nvSpPr>
          <p:cNvPr id="16" name="Badge 5"/>
          <p:cNvSpPr/>
          <p:nvPr/>
        </p:nvSpPr>
        <p:spPr>
          <a:xfrm>
            <a:off x="10543032" y="2587752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112209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5806440" cy="41148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A realistic grid, with a hazard kept hidden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11 kV grid over Vellore — 4 substations, 11 feeders, 25 tie switches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Outages drawn from a hidden physical hazard the model never sees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Seasonal storms swept across the map, so faults cluster in space and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1 — Synthetic Network &amp; Outage History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GridRecoveryIQ</a:t>
            </a:r>
          </a:p>
        </p:txBody>
      </p:sp>
      <p:sp>
        <p:nvSpPr>
          <p:cNvPr id="19" name="Stat 9,278"/>
          <p:cNvSpPr/>
          <p:nvPr/>
        </p:nvSpPr>
        <p:spPr>
          <a:xfrm>
            <a:off x="6446520" y="1463040"/>
            <a:ext cx="2560320" cy="17830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4000" b="1">
                <a:solidFill>
                  <a:srgbClr val="1F4E79"/>
                </a:solidFill>
                <a:latin typeface="Calibri"/>
              </a:rPr>
              <a:t>187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5E6462"/>
                </a:solidFill>
                <a:latin typeface="Calibri"/>
              </a:rPr>
              <a:t>switchable line sections</a:t>
            </a:r>
          </a:p>
        </p:txBody>
      </p:sp>
      <p:sp>
        <p:nvSpPr>
          <p:cNvPr id="20" name="Stat 21,685"/>
          <p:cNvSpPr/>
          <p:nvPr/>
        </p:nvSpPr>
        <p:spPr>
          <a:xfrm>
            <a:off x="9144000" y="1463040"/>
            <a:ext cx="2560320" cy="17830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4000" b="1">
                <a:solidFill>
                  <a:srgbClr val="1F4E79"/>
                </a:solidFill>
                <a:latin typeface="Calibri"/>
              </a:rPr>
              <a:t>64,309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5E6462"/>
                </a:solidFill>
                <a:latin typeface="Calibri"/>
              </a:rPr>
              <a:t>customers served</a:t>
            </a:r>
          </a:p>
        </p:txBody>
      </p:sp>
      <p:sp>
        <p:nvSpPr>
          <p:cNvPr id="21" name="Stat 5"/>
          <p:cNvSpPr/>
          <p:nvPr/>
        </p:nvSpPr>
        <p:spPr>
          <a:xfrm>
            <a:off x="6446520" y="3429000"/>
            <a:ext cx="2560320" cy="17830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4000" b="1">
                <a:solidFill>
                  <a:srgbClr val="1F4E79"/>
                </a:solidFill>
                <a:latin typeface="Calibri"/>
              </a:rPr>
              <a:t>1.64 M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5E6462"/>
                </a:solidFill>
                <a:latin typeface="Calibri"/>
              </a:rPr>
              <a:t>3-hourly history rows</a:t>
            </a:r>
          </a:p>
        </p:txBody>
      </p:sp>
      <p:sp>
        <p:nvSpPr>
          <p:cNvPr id="22" name="Stat 4,000"/>
          <p:cNvSpPr/>
          <p:nvPr/>
        </p:nvSpPr>
        <p:spPr>
          <a:xfrm>
            <a:off x="9144000" y="3429000"/>
            <a:ext cx="2560320" cy="17830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4000" b="1">
                <a:solidFill>
                  <a:srgbClr val="1F4E79"/>
                </a:solidFill>
                <a:latin typeface="Calibri"/>
              </a:rPr>
              <a:t>2,550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5E6462"/>
                </a:solidFill>
                <a:latin typeface="Calibri"/>
              </a:rPr>
              <a:t>outage events in 3 years</a:t>
            </a:r>
          </a:p>
        </p:txBody>
      </p:sp>
    </p:spTree>
    <p:extLst>
      <p:ext uri="{BB962C8B-B14F-4D97-AF65-F5344CB8AC3E}">
        <p14:creationId xmlns:p14="http://schemas.microsoft.com/office/powerpoint/2010/main" val="2566941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5806440" cy="41148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Which sections fail next, and why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LightGBM on weather, asset and load features, time-ordered split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Isotonic calibration fitted on the validation slice only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Exact TreeSHAP gives every section its own risk drivers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2 — Outage Risk Prediction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GridRecoveryIQ</a:t>
            </a:r>
          </a:p>
        </p:txBody>
      </p:sp>
      <p:sp>
        <p:nvSpPr>
          <p:cNvPr id="19" name="Accuracy"/>
          <p:cNvSpPr/>
          <p:nvPr/>
        </p:nvSpPr>
        <p:spPr>
          <a:xfrm>
            <a:off x="6446520" y="141732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3400" b="1">
                <a:solidFill>
                  <a:srgbClr val="1F4E79"/>
                </a:solidFill>
                <a:latin typeface="Calibri"/>
              </a:rPr>
              <a:t>0.804</a:t>
            </a:r>
            <a:r>
              <a:rPr sz="1600" b="0">
                <a:solidFill>
                  <a:srgbClr val="5E6462"/>
                </a:solidFill>
                <a:latin typeface="Calibri"/>
              </a:rPr>
              <a:t>   ROC-AUC  ·  oracle ceiling 0.841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5146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1F4E79"/>
                </a:solidFill>
                <a:latin typeface="Calibri"/>
              </a:rPr>
              <a:t>What drives outage risk — share of model gain</a:t>
            </a:r>
          </a:p>
        </p:txBody>
      </p:sp>
      <p:graphicFrame>
        <p:nvGraphicFramePr>
          <p:cNvPr id="21" name="SHAP chart"/>
          <p:cNvGraphicFramePr>
            <a:graphicFrameLocks noGrp="1"/>
          </p:cNvGraphicFramePr>
          <p:nvPr/>
        </p:nvGraphicFramePr>
        <p:xfrm>
          <a:off x="6400800" y="2834640"/>
          <a:ext cx="53949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80914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5806440" cy="41148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Power back by switching, before any crew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Walks the feeder tree to the smallest switchable zone around the fault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CP-SAT picks tie switches, keeping each donor feeder under 92% loading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66% of affected customers restored on average, in a median of 75 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3 — Self-Healing Restoration (FLISR)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GridRecoveryIQ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1F4E79"/>
                </a:solidFill>
                <a:latin typeface="Calibri"/>
              </a:rPr>
              <a:t>Five steps on every fault — about a minute, no crew</a:t>
            </a:r>
          </a:p>
        </p:txBody>
      </p:sp>
      <p:sp>
        <p:nvSpPr>
          <p:cNvPr id="20" name="Severity 1"/>
          <p:cNvSpPr/>
          <p:nvPr/>
        </p:nvSpPr>
        <p:spPr>
          <a:xfrm>
            <a:off x="6446520" y="1874519"/>
            <a:ext cx="5303520" cy="585216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94360" tIns="73152" rIns="128016" bIns="73152" rtlCol="0" anchor="ctr"/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Locate</a:t>
            </a:r>
            <a:r>
              <a:rPr sz="1500" b="0">
                <a:solidFill>
                  <a:srgbClr val="FFFFFF"/>
                </a:solidFill>
                <a:latin typeface="Calibri"/>
              </a:rPr>
              <a:t>   faulted section from the trip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993391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Severity 2"/>
          <p:cNvSpPr/>
          <p:nvPr/>
        </p:nvSpPr>
        <p:spPr>
          <a:xfrm>
            <a:off x="6446520" y="2569463"/>
            <a:ext cx="5303520" cy="585216"/>
          </a:xfrm>
          <a:prstGeom prst="roundRect">
            <a:avLst>
              <a:gd name="adj" fmla="val 8000"/>
            </a:avLst>
          </a:prstGeom>
          <a:solidFill>
            <a:srgbClr val="2F62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94360" tIns="73152" rIns="128016" bIns="73152" rtlCol="0" anchor="ctr"/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Isolate</a:t>
            </a:r>
            <a:r>
              <a:rPr sz="1500" b="0">
                <a:solidFill>
                  <a:srgbClr val="FFFFFF"/>
                </a:solidFill>
                <a:latin typeface="Calibri"/>
              </a:rPr>
              <a:t>   nearest sectionalising switches open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688335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Severity 3"/>
          <p:cNvSpPr/>
          <p:nvPr/>
        </p:nvSpPr>
        <p:spPr>
          <a:xfrm>
            <a:off x="6446520" y="3264408"/>
            <a:ext cx="5303520" cy="585216"/>
          </a:xfrm>
          <a:prstGeom prst="roundRect">
            <a:avLst>
              <a:gd name="adj" fmla="val 8000"/>
            </a:avLst>
          </a:prstGeom>
          <a:solidFill>
            <a:srgbClr val="55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94360" tIns="73152" rIns="128016" bIns="73152" rtlCol="0" anchor="ctr"/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Reclose</a:t>
            </a:r>
            <a:r>
              <a:rPr sz="1500" b="0">
                <a:solidFill>
                  <a:srgbClr val="FFFFFF"/>
                </a:solidFill>
                <a:latin typeface="Calibri"/>
              </a:rPr>
              <a:t>   breaker restores everything upstream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38327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Severity 4"/>
          <p:cNvSpPr/>
          <p:nvPr/>
        </p:nvSpPr>
        <p:spPr>
          <a:xfrm>
            <a:off x="6446520" y="3959352"/>
            <a:ext cx="5303520" cy="585216"/>
          </a:xfrm>
          <a:prstGeom prst="roundRect">
            <a:avLst>
              <a:gd name="adj" fmla="val 8000"/>
            </a:avLst>
          </a:prstGeom>
          <a:solidFill>
            <a:srgbClr val="DD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94360" tIns="73152" rIns="128016" bIns="73152" rtlCol="0" anchor="ctr"/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1F4E79"/>
                </a:solidFill>
                <a:latin typeface="Calibri"/>
              </a:rPr>
              <a:t>Transfer</a:t>
            </a:r>
            <a:r>
              <a:rPr sz="1500" b="0">
                <a:solidFill>
                  <a:srgbClr val="242424"/>
                </a:solidFill>
                <a:latin typeface="Calibri"/>
              </a:rPr>
              <a:t>   tie switches pick up stranded islands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07822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1F4E79"/>
                </a:solidFill>
                <a:latin typeface="Calibri"/>
              </a:rPr>
              <a:t>4</a:t>
            </a:r>
          </a:p>
        </p:txBody>
      </p:sp>
      <p:sp>
        <p:nvSpPr>
          <p:cNvPr id="28" name="Severity 5"/>
          <p:cNvSpPr/>
          <p:nvPr/>
        </p:nvSpPr>
        <p:spPr>
          <a:xfrm>
            <a:off x="6446520" y="4654296"/>
            <a:ext cx="5303520" cy="585216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94360" tIns="73152" rIns="128016" bIns="73152" rtlCol="0" anchor="ctr"/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1F4E79"/>
                </a:solidFill>
                <a:latin typeface="Calibri"/>
              </a:rPr>
              <a:t>Shed</a:t>
            </a:r>
            <a:r>
              <a:rPr sz="1500" b="0">
                <a:solidFill>
                  <a:srgbClr val="242424"/>
                </a:solidFill>
                <a:latin typeface="Calibri"/>
              </a:rPr>
              <a:t>   lowest-value branch, if a donor is short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77316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1F4E79"/>
                </a:solidFill>
                <a:latin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137090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5806440" cy="41148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Minimise customer-minutes, not kilometres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Objective: Σ weight × finish time, weight = customers out × criticality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CP-SAT routes every crew with skill matching and travel-time precedence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Never worse than nearest-job-first — a test enforces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4 — Crew Dispatch Optimisation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GridRecoveryIQ</a:t>
            </a:r>
          </a:p>
        </p:txBody>
      </p:sp>
      <p:sp>
        <p:nvSpPr>
          <p:cNvPr id="19" name="Shift"/>
          <p:cNvSpPr/>
          <p:nvPr/>
        </p:nvSpPr>
        <p:spPr>
          <a:xfrm>
            <a:off x="6446520" y="141732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3200" b="1">
                <a:solidFill>
                  <a:srgbClr val="B33A12"/>
                </a:solidFill>
                <a:latin typeface="Calibri"/>
              </a:rPr>
              <a:t>59.6 M</a:t>
            </a:r>
            <a:r>
              <a:rPr sz="2800" b="1">
                <a:solidFill>
                  <a:srgbClr val="5E6462"/>
                </a:solidFill>
                <a:latin typeface="Calibri"/>
              </a:rPr>
              <a:t>  →  </a:t>
            </a:r>
            <a:r>
              <a:rPr sz="3200" b="1">
                <a:solidFill>
                  <a:srgbClr val="2E7D32"/>
                </a:solidFill>
                <a:latin typeface="Calibri"/>
              </a:rPr>
              <a:t>34.1 M</a:t>
            </a:r>
            <a:r>
              <a:rPr sz="1600" b="0">
                <a:solidFill>
                  <a:srgbClr val="5E6462"/>
                </a:solidFill>
                <a:latin typeface="Calibri"/>
              </a:rPr>
              <a:t>    customer-minutes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5146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1F4E79"/>
                </a:solidFill>
                <a:latin typeface="Calibri"/>
              </a:rPr>
              <a:t>Gain over the nearest-job-first rule</a:t>
            </a:r>
          </a:p>
        </p:txBody>
      </p:sp>
      <p:graphicFrame>
        <p:nvGraphicFramePr>
          <p:cNvPr id="21" name="Shapley chart"/>
          <p:cNvGraphicFramePr>
            <a:graphicFrameLocks noGrp="1"/>
          </p:cNvGraphicFramePr>
          <p:nvPr/>
        </p:nvGraphicFramePr>
        <p:xfrm>
          <a:off x="6400800" y="2834640"/>
          <a:ext cx="53949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58598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5806440" cy="41148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Engines compute, agents explain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RiskSentinel watches exposure; three agents act on every fault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The LLM never produces a number — every figure comes from a model or solver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No API key needed: Groq, Gemini or Ollama only add the narration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5 — Agentic Reasoning Layer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GridRecoveryIQ</a:t>
            </a:r>
          </a:p>
        </p:txBody>
      </p:sp>
      <p:sp>
        <p:nvSpPr>
          <p:cNvPr id="19" name="Pour record"/>
          <p:cNvSpPr/>
          <p:nvPr/>
        </p:nvSpPr>
        <p:spPr>
          <a:xfrm>
            <a:off x="6400800" y="2788920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Fault event</a:t>
            </a:r>
          </a:p>
          <a:p>
            <a:pPr algn="ctr">
              <a:spcBef>
                <a:spcPts val="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+ live risk</a:t>
            </a:r>
          </a:p>
        </p:txBody>
      </p:sp>
      <p:sp>
        <p:nvSpPr>
          <p:cNvPr id="20" name="Specialist Materials"/>
          <p:cNvSpPr/>
          <p:nvPr/>
        </p:nvSpPr>
        <p:spPr>
          <a:xfrm>
            <a:off x="8183879" y="1508760"/>
            <a:ext cx="2148840" cy="9601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700" b="1">
                <a:solidFill>
                  <a:srgbClr val="1F4E79"/>
                </a:solidFill>
                <a:latin typeface="Calibri"/>
              </a:rPr>
              <a:t>Fault Diagnosis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242424"/>
                </a:solidFill>
                <a:latin typeface="Calibri"/>
              </a:rPr>
              <a:t>cause · confidence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7726679" y="1988819"/>
            <a:ext cx="457200" cy="1394461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332720" y="1988819"/>
            <a:ext cx="274320" cy="1394461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pecialist Site execution"/>
          <p:cNvSpPr/>
          <p:nvPr/>
        </p:nvSpPr>
        <p:spPr>
          <a:xfrm>
            <a:off x="8183879" y="2788920"/>
            <a:ext cx="2148840" cy="9601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700" b="1">
                <a:solidFill>
                  <a:srgbClr val="1F4E79"/>
                </a:solidFill>
                <a:latin typeface="Calibri"/>
              </a:rPr>
              <a:t>Self-Heal Agent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242424"/>
                </a:solidFill>
                <a:latin typeface="Calibri"/>
              </a:rPr>
              <a:t>switching plan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7726679" y="3268979"/>
            <a:ext cx="457200" cy="114301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332720" y="3268979"/>
            <a:ext cx="274320" cy="114301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pecialist History"/>
          <p:cNvSpPr/>
          <p:nvPr/>
        </p:nvSpPr>
        <p:spPr>
          <a:xfrm>
            <a:off x="8183879" y="4069079"/>
            <a:ext cx="2148840" cy="9601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700" b="1">
                <a:solidFill>
                  <a:srgbClr val="1F4E79"/>
                </a:solidFill>
                <a:latin typeface="Calibri"/>
              </a:rPr>
              <a:t>Dispatch Agent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242424"/>
                </a:solidFill>
                <a:latin typeface="Calibri"/>
              </a:rPr>
              <a:t>crew sequence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26679" y="3383280"/>
            <a:ext cx="457200" cy="1165860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332720" y="3383280"/>
            <a:ext cx="274320" cy="1165860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hair"/>
          <p:cNvSpPr/>
          <p:nvPr/>
        </p:nvSpPr>
        <p:spPr>
          <a:xfrm>
            <a:off x="10607040" y="2788920"/>
            <a:ext cx="1188720" cy="118872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Summary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incident commander</a:t>
            </a:r>
          </a:p>
        </p:txBody>
      </p:sp>
    </p:spTree>
    <p:extLst>
      <p:ext uri="{BB962C8B-B14F-4D97-AF65-F5344CB8AC3E}">
        <p14:creationId xmlns:p14="http://schemas.microsoft.com/office/powerpoint/2010/main" val="1186248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5394960" cy="41148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One click, the whole loop on screen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FastAPI streams live state to the browser over server-sent events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Canvas map with no tile service: power flow, storm front, crew trucks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242424"/>
                </a:solidFill>
                <a:latin typeface="+mn-lt"/>
              </a:rPr>
              <a:t>Click any line section to inject a fault and watch the loop run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6 — Live Control Room &amp; Deployment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GridRecoveryIQ</a:t>
            </a:r>
          </a:p>
        </p:txBody>
      </p:sp>
      <p:pic>
        <p:nvPicPr>
          <p:cNvPr id="19" name="Dashboard screenshot" descr="GridRecoveryIQ control room during the cyclone scenar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620" y="1508760"/>
            <a:ext cx="5394960" cy="3034665"/>
          </a:xfrm>
          <a:prstGeom prst="rect">
            <a:avLst/>
          </a:prstGeom>
          <a:ln w="12700">
            <a:solidFill>
              <a:srgbClr val="C6C8C1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5806440" y="4662297"/>
            <a:ext cx="5989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>
                <a:solidFill>
                  <a:srgbClr val="5E6462"/>
                </a:solidFill>
                <a:latin typeface="Calibri"/>
              </a:rPr>
              <a:t>Cyclone scenario at T+01:04 — 55.6% self-healed, 42.8% dispatch gain</a:t>
            </a:r>
          </a:p>
        </p:txBody>
      </p:sp>
    </p:spTree>
    <p:extLst>
      <p:ext uri="{BB962C8B-B14F-4D97-AF65-F5344CB8AC3E}">
        <p14:creationId xmlns:p14="http://schemas.microsoft.com/office/powerpoint/2010/main" val="3127087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11338560" cy="9144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A feeder trips whole — and restoration waits for a crew.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GridRecoveryIQ</a:t>
            </a:r>
          </a:p>
        </p:txBody>
      </p:sp>
      <p:sp>
        <p:nvSpPr>
          <p:cNvPr id="7" name="Today"/>
          <p:cNvSpPr/>
          <p:nvPr/>
        </p:nvSpPr>
        <p:spPr>
          <a:xfrm>
            <a:off x="320040" y="2423160"/>
            <a:ext cx="5257800" cy="2834640"/>
          </a:xfrm>
          <a:prstGeom prst="roundRect">
            <a:avLst>
              <a:gd name="adj" fmla="val 8000"/>
            </a:avLst>
          </a:prstGeom>
          <a:solidFill>
            <a:srgbClr val="F1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128016" bIns="73152" rtlCol="0" anchor="t"/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5E6462"/>
                </a:solidFill>
                <a:latin typeface="Calibri"/>
              </a:rPr>
              <a:t>Today</a:t>
            </a:r>
          </a:p>
          <a:p>
            <a:pPr marL="237744" indent="-237744" algn="l">
              <a:spcBef>
                <a:spcPts val="900"/>
              </a:spcBef>
              <a:buFont typeface="Arial"/>
              <a:buChar char="–"/>
            </a:pPr>
            <a:r>
              <a:rPr sz="1800" b="0">
                <a:solidFill>
                  <a:srgbClr val="242424"/>
                </a:solidFill>
                <a:latin typeface="Calibri"/>
              </a:rPr>
              <a:t>Protection drops the entire feeder</a:t>
            </a:r>
          </a:p>
          <a:p>
            <a:pPr marL="237744" indent="-237744" algn="l">
              <a:spcBef>
                <a:spcPts val="900"/>
              </a:spcBef>
              <a:buFont typeface="Arial"/>
              <a:buChar char="–"/>
            </a:pPr>
            <a:r>
              <a:rPr sz="1800" b="0">
                <a:solidFill>
                  <a:srgbClr val="242424"/>
                </a:solidFill>
                <a:latin typeface="Calibri"/>
              </a:rPr>
              <a:t>Healthy load stays dark until a crew arrives</a:t>
            </a:r>
          </a:p>
          <a:p>
            <a:pPr marL="237744" indent="-237744" algn="l">
              <a:spcBef>
                <a:spcPts val="900"/>
              </a:spcBef>
              <a:buFont typeface="Arial"/>
              <a:buChar char="–"/>
            </a:pPr>
            <a:r>
              <a:rPr sz="1800" b="0">
                <a:solidFill>
                  <a:srgbClr val="242424"/>
                </a:solidFill>
                <a:latin typeface="Calibri"/>
              </a:rPr>
              <a:t>Crews sent to the nearest job first</a:t>
            </a:r>
          </a:p>
          <a:p>
            <a:pPr marL="237744" indent="-237744" algn="l">
              <a:spcBef>
                <a:spcPts val="900"/>
              </a:spcBef>
              <a:buFont typeface="Arial"/>
              <a:buChar char="–"/>
            </a:pPr>
            <a:r>
              <a:rPr sz="1800" b="0">
                <a:solidFill>
                  <a:srgbClr val="242424"/>
                </a:solidFill>
                <a:latin typeface="Calibri"/>
              </a:rPr>
              <a:t>Risk tracked as static asset lists</a:t>
            </a:r>
          </a:p>
        </p:txBody>
      </p:sp>
      <p:sp>
        <p:nvSpPr>
          <p:cNvPr id="8" name="Arrow"/>
          <p:cNvSpPr/>
          <p:nvPr/>
        </p:nvSpPr>
        <p:spPr>
          <a:xfrm>
            <a:off x="5760720" y="3611880"/>
            <a:ext cx="502920" cy="45720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Needed"/>
          <p:cNvSpPr/>
          <p:nvPr/>
        </p:nvSpPr>
        <p:spPr>
          <a:xfrm>
            <a:off x="6446520" y="2423160"/>
            <a:ext cx="5303520" cy="283464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128016" bIns="73152" rtlCol="0" anchor="t"/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FFFFFF"/>
                </a:solidFill>
                <a:latin typeface="Calibri"/>
              </a:rPr>
              <a:t>Needed</a:t>
            </a:r>
          </a:p>
          <a:p>
            <a:pPr marL="237744" indent="-237744" algn="l">
              <a:spcBef>
                <a:spcPts val="900"/>
              </a:spcBef>
              <a:buFont typeface="Arial"/>
              <a:buChar char="–"/>
            </a:pPr>
            <a:r>
              <a:rPr sz="1800" b="0">
                <a:solidFill>
                  <a:srgbClr val="FFFFFF"/>
                </a:solidFill>
                <a:latin typeface="Calibri"/>
              </a:rPr>
              <a:t>Risk scored per section, live with weather</a:t>
            </a:r>
          </a:p>
          <a:p>
            <a:pPr marL="237744" indent="-237744" algn="l">
              <a:spcBef>
                <a:spcPts val="900"/>
              </a:spcBef>
              <a:buFont typeface="Arial"/>
              <a:buChar char="–"/>
            </a:pPr>
            <a:r>
              <a:rPr sz="1800" b="0">
                <a:solidFill>
                  <a:srgbClr val="FFFFFF"/>
                </a:solidFill>
                <a:latin typeface="Calibri"/>
              </a:rPr>
              <a:t>Healthy load switched back in seconds</a:t>
            </a:r>
          </a:p>
          <a:p>
            <a:pPr marL="237744" indent="-237744" algn="l">
              <a:spcBef>
                <a:spcPts val="900"/>
              </a:spcBef>
              <a:buFont typeface="Arial"/>
              <a:buChar char="–"/>
            </a:pPr>
            <a:r>
              <a:rPr sz="1800" b="0">
                <a:solidFill>
                  <a:srgbClr val="FFFFFF"/>
                </a:solidFill>
                <a:latin typeface="Calibri"/>
              </a:rPr>
              <a:t>Crews ranked by customer-minutes saved</a:t>
            </a:r>
          </a:p>
          <a:p>
            <a:pPr marL="237744" indent="-237744" algn="l">
              <a:spcBef>
                <a:spcPts val="900"/>
              </a:spcBef>
              <a:buFont typeface="Arial"/>
              <a:buChar char="–"/>
            </a:pPr>
            <a:r>
              <a:rPr sz="1800" b="0">
                <a:solidFill>
                  <a:srgbClr val="FFFFFF"/>
                </a:solidFill>
                <a:latin typeface="Calibri"/>
              </a:rPr>
              <a:t>Every number traceable to a model or solver</a:t>
            </a:r>
          </a:p>
        </p:txBody>
      </p:sp>
    </p:spTree>
    <p:extLst>
      <p:ext uri="{BB962C8B-B14F-4D97-AF65-F5344CB8AC3E}">
        <p14:creationId xmlns:p14="http://schemas.microsoft.com/office/powerpoint/2010/main" val="3964422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11338560" cy="9144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Engines compute every number; language models only narrate the result.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GridRecoveryIQ</a:t>
            </a:r>
          </a:p>
        </p:txBody>
      </p:sp>
      <p:sp>
        <p:nvSpPr>
          <p:cNvPr id="7" name="Site photo"/>
          <p:cNvSpPr/>
          <p:nvPr/>
        </p:nvSpPr>
        <p:spPr>
          <a:xfrm>
            <a:off x="320040" y="2743200"/>
            <a:ext cx="1600200" cy="1097280"/>
          </a:xfrm>
          <a:prstGeom prst="roundRect">
            <a:avLst>
              <a:gd name="adj" fmla="val 8000"/>
            </a:avLst>
          </a:prstGeom>
          <a:solidFill>
            <a:srgbClr val="F1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Weather</a:t>
            </a:r>
          </a:p>
          <a:p>
            <a:pPr algn="ctr">
              <a:spcBef>
                <a:spcPts val="200"/>
              </a:spcBef>
            </a:pPr>
            <a:r>
              <a:rPr sz="1400" b="0">
                <a:solidFill>
                  <a:srgbClr val="242424"/>
                </a:solidFill>
                <a:latin typeface="Calibri"/>
              </a:rPr>
              <a:t>+ asset · load</a:t>
            </a:r>
          </a:p>
        </p:txBody>
      </p:sp>
      <p:sp>
        <p:nvSpPr>
          <p:cNvPr id="8" name="Detect"/>
          <p:cNvSpPr/>
          <p:nvPr/>
        </p:nvSpPr>
        <p:spPr>
          <a:xfrm>
            <a:off x="2331720" y="274320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Predict</a:t>
            </a:r>
          </a:p>
          <a:p>
            <a:pPr algn="ctr">
              <a:spcBef>
                <a:spcPts val="200"/>
              </a:spcBef>
            </a:pPr>
            <a:r>
              <a:rPr sz="1400" b="0">
                <a:solidFill>
                  <a:srgbClr val="242424"/>
                </a:solidFill>
                <a:latin typeface="Calibri"/>
              </a:rPr>
              <a:t>LightGBM + SHAP</a:t>
            </a:r>
          </a:p>
        </p:txBody>
      </p:sp>
      <p:sp>
        <p:nvSpPr>
          <p:cNvPr id="9" name="Score"/>
          <p:cNvSpPr/>
          <p:nvPr/>
        </p:nvSpPr>
        <p:spPr>
          <a:xfrm>
            <a:off x="4572000" y="2743200"/>
            <a:ext cx="1965960" cy="1097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Isolate</a:t>
            </a:r>
          </a:p>
          <a:p>
            <a:pPr algn="ctr">
              <a:spcBef>
                <a:spcPts val="200"/>
              </a:spcBef>
            </a:pPr>
            <a:r>
              <a:rPr sz="1400" b="0">
                <a:solidFill>
                  <a:srgbClr val="242424"/>
                </a:solidFill>
                <a:latin typeface="Calibri"/>
              </a:rPr>
              <a:t>fault zone · reclose</a:t>
            </a:r>
          </a:p>
        </p:txBody>
      </p:sp>
      <p:sp>
        <p:nvSpPr>
          <p:cNvPr id="10" name="Arrow"/>
          <p:cNvSpPr/>
          <p:nvPr/>
        </p:nvSpPr>
        <p:spPr>
          <a:xfrm>
            <a:off x="1938528" y="3145536"/>
            <a:ext cx="347472" cy="292608"/>
          </a:xfrm>
          <a:prstGeom prst="rightArrow">
            <a:avLst/>
          </a:prstGeom>
          <a:solidFill>
            <a:srgbClr val="A9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rrow"/>
          <p:cNvSpPr/>
          <p:nvPr/>
        </p:nvSpPr>
        <p:spPr>
          <a:xfrm>
            <a:off x="4178808" y="3145536"/>
            <a:ext cx="347472" cy="292608"/>
          </a:xfrm>
          <a:prstGeom prst="rightArrow">
            <a:avLst/>
          </a:prstGeom>
          <a:solidFill>
            <a:srgbClr val="A9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revent"/>
          <p:cNvSpPr/>
          <p:nvPr/>
        </p:nvSpPr>
        <p:spPr>
          <a:xfrm>
            <a:off x="6995160" y="224028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Self-heal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tie transfer · CP-SAT</a:t>
            </a:r>
          </a:p>
        </p:txBody>
      </p:sp>
      <p:sp>
        <p:nvSpPr>
          <p:cNvPr id="13" name="Investigate"/>
          <p:cNvSpPr/>
          <p:nvPr/>
        </p:nvSpPr>
        <p:spPr>
          <a:xfrm>
            <a:off x="6995160" y="34290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FFFFFF"/>
                </a:solidFill>
                <a:latin typeface="Calibri"/>
              </a:rPr>
              <a:t>Dispatch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crew routing · CP-SAT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537960" y="2697480"/>
            <a:ext cx="457200" cy="594360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3291840"/>
            <a:ext cx="457200" cy="594360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326880" y="2697480"/>
            <a:ext cx="365760" cy="594360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326880" y="3291840"/>
            <a:ext cx="365760" cy="594360"/>
          </a:xfrm>
          <a:prstGeom prst="line">
            <a:avLst/>
          </a:prstGeom>
          <a:ln w="22225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ashboard"/>
          <p:cNvSpPr/>
          <p:nvPr/>
        </p:nvSpPr>
        <p:spPr>
          <a:xfrm>
            <a:off x="9692640" y="2743200"/>
            <a:ext cx="2057400" cy="1097280"/>
          </a:xfrm>
          <a:prstGeom prst="roundRect">
            <a:avLst>
              <a:gd name="adj" fmla="val 8000"/>
            </a:avLst>
          </a:prstGeom>
          <a:solidFill>
            <a:srgbClr val="F1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Control room</a:t>
            </a:r>
          </a:p>
          <a:p>
            <a:pPr algn="ctr">
              <a:spcBef>
                <a:spcPts val="200"/>
              </a:spcBef>
            </a:pPr>
            <a:r>
              <a:rPr sz="1400" b="0">
                <a:solidFill>
                  <a:srgbClr val="242424"/>
                </a:solidFill>
                <a:latin typeface="Calibri"/>
              </a:rPr>
              <a:t>FastAPI + SSE</a:t>
            </a:r>
          </a:p>
        </p:txBody>
      </p:sp>
      <p:sp>
        <p:nvSpPr>
          <p:cNvPr id="19" name="Data Imagery"/>
          <p:cNvSpPr/>
          <p:nvPr/>
        </p:nvSpPr>
        <p:spPr>
          <a:xfrm>
            <a:off x="320040" y="4617720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1F4E79"/>
                </a:solidFill>
                <a:latin typeface="Calibri"/>
              </a:rPr>
              <a:t>Network  </a:t>
            </a:r>
            <a:r>
              <a:rPr sz="1400" b="0">
                <a:solidFill>
                  <a:srgbClr val="242424"/>
                </a:solidFill>
                <a:latin typeface="Calibri"/>
              </a:rPr>
              <a:t>synthetic 11 kV, Vellore, seeded</a:t>
            </a:r>
          </a:p>
        </p:txBody>
      </p:sp>
      <p:sp>
        <p:nvSpPr>
          <p:cNvPr id="20" name="Data Pour records"/>
          <p:cNvSpPr/>
          <p:nvPr/>
        </p:nvSpPr>
        <p:spPr>
          <a:xfrm>
            <a:off x="4160520" y="4617720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1F4E79"/>
                </a:solidFill>
                <a:latin typeface="Calibri"/>
              </a:rPr>
              <a:t>History  </a:t>
            </a:r>
            <a:r>
              <a:rPr sz="1400" b="0">
                <a:solidFill>
                  <a:srgbClr val="242424"/>
                </a:solidFill>
                <a:latin typeface="Calibri"/>
              </a:rPr>
              <a:t>3 years, 3-hourly, hidden hazard</a:t>
            </a:r>
          </a:p>
        </p:txBody>
      </p:sp>
      <p:sp>
        <p:nvSpPr>
          <p:cNvPr id="21" name="Data Schema"/>
          <p:cNvSpPr/>
          <p:nvPr/>
        </p:nvSpPr>
        <p:spPr>
          <a:xfrm>
            <a:off x="8001000" y="4617720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1F4E79"/>
                </a:solidFill>
                <a:latin typeface="Calibri"/>
              </a:rPr>
              <a:t>Benchmark  </a:t>
            </a:r>
            <a:r>
              <a:rPr sz="1400" b="0">
                <a:solidFill>
                  <a:srgbClr val="242424"/>
                </a:solidFill>
                <a:latin typeface="Calibri"/>
              </a:rPr>
              <a:t>oracle ceiling on every metric</a:t>
            </a:r>
          </a:p>
        </p:txBody>
      </p:sp>
    </p:spTree>
    <p:extLst>
      <p:ext uri="{BB962C8B-B14F-4D97-AF65-F5344CB8AC3E}">
        <p14:creationId xmlns:p14="http://schemas.microsoft.com/office/powerpoint/2010/main" val="3554251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11338560" cy="64008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Each layer uses a method whose output can be checked and reproduced.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GridRecoveryIQ</a:t>
            </a:r>
          </a:p>
        </p:txBody>
      </p:sp>
      <p:sp>
        <p:nvSpPr>
          <p:cNvPr id="7" name="Layer Detection"/>
          <p:cNvSpPr/>
          <p:nvPr/>
        </p:nvSpPr>
        <p:spPr>
          <a:xfrm>
            <a:off x="320040" y="210312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128016" bIns="73152" rtlCol="0" anchor="ctr"/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Data generation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Seeded hidden-hazard simulation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E6462"/>
                </a:solidFill>
                <a:latin typeface="Calibri"/>
              </a:rPr>
              <a:t>NumPy · pandas · NetworkX · PyArrow</a:t>
            </a:r>
          </a:p>
        </p:txBody>
      </p:sp>
      <p:sp>
        <p:nvSpPr>
          <p:cNvPr id="8" name="Layer Risk scoring"/>
          <p:cNvSpPr/>
          <p:nvPr/>
        </p:nvSpPr>
        <p:spPr>
          <a:xfrm>
            <a:off x="4160520" y="210312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128016" bIns="73152" rtlCol="0" anchor="ctr"/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Risk prediction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LightGBM + isotonic calibration + TreeSHAP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E6462"/>
                </a:solidFill>
                <a:latin typeface="Calibri"/>
              </a:rPr>
              <a:t>LightGBM · scikit-learn</a:t>
            </a:r>
          </a:p>
        </p:txBody>
      </p:sp>
      <p:sp>
        <p:nvSpPr>
          <p:cNvPr id="9" name="Layer Prevention"/>
          <p:cNvSpPr/>
          <p:nvPr/>
        </p:nvSpPr>
        <p:spPr>
          <a:xfrm>
            <a:off x="8001000" y="210312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128016" bIns="73152" rtlCol="0" anchor="ctr"/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Self-healing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Tree search + CP-SAT tie selection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E6462"/>
                </a:solidFill>
                <a:latin typeface="Calibri"/>
              </a:rPr>
              <a:t>NetworkX · Google OR-Tools</a:t>
            </a:r>
          </a:p>
        </p:txBody>
      </p:sp>
      <p:sp>
        <p:nvSpPr>
          <p:cNvPr id="10" name="Layer Investigation"/>
          <p:cNvSpPr/>
          <p:nvPr/>
        </p:nvSpPr>
        <p:spPr>
          <a:xfrm>
            <a:off x="320040" y="3749039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128016" bIns="73152" rtlCol="0" anchor="ctr"/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Crew dispatch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Weighted-completion-time routing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E6462"/>
                </a:solidFill>
                <a:latin typeface="Calibri"/>
              </a:rPr>
              <a:t>OR-Tools CP-SAT · AddCircuit</a:t>
            </a:r>
          </a:p>
        </p:txBody>
      </p:sp>
      <p:sp>
        <p:nvSpPr>
          <p:cNvPr id="11" name="Layer Service"/>
          <p:cNvSpPr/>
          <p:nvPr/>
        </p:nvSpPr>
        <p:spPr>
          <a:xfrm>
            <a:off x="4160520" y="3749039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128016" bIns="73152" rtlCol="0" anchor="ctr"/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Agents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Engine computes, LLM narrates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E6462"/>
                </a:solidFill>
                <a:latin typeface="Calibri"/>
              </a:rPr>
              <a:t>Llama 3.3 70B on Groq · Gemini · Ollama</a:t>
            </a:r>
          </a:p>
        </p:txBody>
      </p:sp>
      <p:sp>
        <p:nvSpPr>
          <p:cNvPr id="12" name="Layer Dashboard"/>
          <p:cNvSpPr/>
          <p:nvPr/>
        </p:nvSpPr>
        <p:spPr>
          <a:xfrm>
            <a:off x="8001000" y="3749039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128016" bIns="73152" rtlCol="0" anchor="ctr"/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Service &amp; dashboard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242424"/>
                </a:solidFill>
                <a:latin typeface="Calibri"/>
              </a:rPr>
              <a:t>FastAPI with server-sent events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E6462"/>
                </a:solidFill>
                <a:latin typeface="Calibri"/>
              </a:rPr>
              <a:t>Uvicorn · Pydantic · HTML5 canvas</a:t>
            </a:r>
          </a:p>
        </p:txBody>
      </p:sp>
    </p:spTree>
    <p:extLst>
      <p:ext uri="{BB962C8B-B14F-4D97-AF65-F5344CB8AC3E}">
        <p14:creationId xmlns:p14="http://schemas.microsoft.com/office/powerpoint/2010/main" val="2822369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11338560" cy="64008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Scored against its own ceiling, not just against random.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GridRecoveryIQ</a:t>
            </a:r>
          </a:p>
        </p:txBody>
      </p:sp>
      <p:sp>
        <p:nvSpPr>
          <p:cNvPr id="7" name="Stat 74.5%"/>
          <p:cNvSpPr/>
          <p:nvPr/>
        </p:nvSpPr>
        <p:spPr>
          <a:xfrm>
            <a:off x="320040" y="2103120"/>
            <a:ext cx="3108960" cy="102412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3200" b="1">
                <a:solidFill>
                  <a:srgbClr val="1F4E79"/>
                </a:solidFill>
                <a:latin typeface="Calibri"/>
              </a:rPr>
              <a:t>89%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5E6462"/>
                </a:solidFill>
                <a:latin typeface="Calibri"/>
              </a:rPr>
              <a:t>of achievable ROC skill recovered</a:t>
            </a:r>
          </a:p>
        </p:txBody>
      </p:sp>
      <p:sp>
        <p:nvSpPr>
          <p:cNvPr id="8" name="Stat 3 / 3"/>
          <p:cNvSpPr/>
          <p:nvPr/>
        </p:nvSpPr>
        <p:spPr>
          <a:xfrm>
            <a:off x="320040" y="3218688"/>
            <a:ext cx="3108960" cy="102412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3200" b="1">
                <a:solidFill>
                  <a:srgbClr val="1F4E79"/>
                </a:solidFill>
                <a:latin typeface="Calibri"/>
              </a:rPr>
              <a:t>0.3%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5E6462"/>
                </a:solidFill>
                <a:latin typeface="Calibri"/>
              </a:rPr>
              <a:t>Brier gap to the oracle</a:t>
            </a:r>
          </a:p>
        </p:txBody>
      </p:sp>
      <p:sp>
        <p:nvSpPr>
          <p:cNvPr id="9" name="Stat 0.20"/>
          <p:cNvSpPr/>
          <p:nvPr/>
        </p:nvSpPr>
        <p:spPr>
          <a:xfrm>
            <a:off x="320040" y="4334256"/>
            <a:ext cx="3108960" cy="102412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Bef>
                <a:spcPts val="0"/>
              </a:spcBef>
            </a:pPr>
            <a:r>
              <a:rPr sz="3200" b="1">
                <a:solidFill>
                  <a:srgbClr val="1F4E79"/>
                </a:solidFill>
                <a:latin typeface="Calibri"/>
              </a:rPr>
              <a:t>245,718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5E6462"/>
                </a:solidFill>
                <a:latin typeface="Calibri"/>
              </a:rPr>
              <a:t>held-out test rows · 530 outages</a:t>
            </a:r>
          </a:p>
        </p:txBody>
      </p:sp>
      <p:graphicFrame>
        <p:nvGraphicFramePr>
          <p:cNvPr id="10" name="Separation table"/>
          <p:cNvGraphicFramePr>
            <a:graphicFrameLocks noGrp="1"/>
          </p:cNvGraphicFramePr>
          <p:nvPr/>
        </p:nvGraphicFramePr>
        <p:xfrm>
          <a:off x="3657600" y="2103120"/>
          <a:ext cx="8092439" cy="3255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1381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Random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Oracle ceiling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Skill recovered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42424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42424"/>
                          </a:solidFill>
                          <a:latin typeface="Calibri"/>
                        </a:rPr>
                        <a:t>0.804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42424"/>
                          </a:solidFill>
                          <a:latin typeface="Calibri"/>
                        </a:rPr>
                        <a:t>0.841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B33A12"/>
                          </a:solidFill>
                          <a:latin typeface="Calibri"/>
                        </a:rPr>
                        <a:t>89%</a:t>
                      </a:r>
                    </a:p>
                  </a:txBody>
                  <a:tcPr anchor="ctr">
                    <a:solidFill>
                      <a:srgbClr val="F6DF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Lift @ top 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42424"/>
                          </a:solidFill>
                          <a:latin typeface="Calibri"/>
                        </a:rPr>
                        <a:t>1.0×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42424"/>
                          </a:solidFill>
                          <a:latin typeface="Calibri"/>
                        </a:rPr>
                        <a:t>10.6×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42424"/>
                          </a:solidFill>
                          <a:latin typeface="Calibri"/>
                        </a:rPr>
                        <a:t>14.5×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B33A12"/>
                          </a:solidFill>
                          <a:latin typeface="Calibri"/>
                        </a:rPr>
                        <a:t>71%</a:t>
                      </a:r>
                    </a:p>
                  </a:txBody>
                  <a:tcPr anchor="ctr">
                    <a:solidFill>
                      <a:srgbClr val="F6DF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Recall @ top 5%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42424"/>
                          </a:solidFill>
                          <a:latin typeface="Calibri"/>
                        </a:rPr>
                        <a:t>0.050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42424"/>
                          </a:solidFill>
                          <a:latin typeface="Calibri"/>
                        </a:rPr>
                        <a:t>0.336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42424"/>
                          </a:solidFill>
                          <a:latin typeface="Calibri"/>
                        </a:rPr>
                        <a:t>0.374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B33A12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 anchor="ctr">
                    <a:solidFill>
                      <a:srgbClr val="F6DF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3658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11338560" cy="64008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Restoration measured against a no-automation counterfactual, not claimed.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GridRecoveryIQ</a:t>
            </a:r>
          </a:p>
        </p:txBody>
      </p:sp>
      <p:sp>
        <p:nvSpPr>
          <p:cNvPr id="7" name="Failure 1"/>
          <p:cNvSpPr/>
          <p:nvPr/>
        </p:nvSpPr>
        <p:spPr>
          <a:xfrm>
            <a:off x="320040" y="2103120"/>
            <a:ext cx="5623560" cy="15544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128016" bIns="73152" rtlCol="0" anchor="ctr"/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1F4E79"/>
                </a:solidFill>
                <a:latin typeface="Calibri"/>
              </a:rPr>
              <a:t>Self-healing, all 187 faults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2E7D32"/>
                </a:solidFill>
                <a:latin typeface="Calibri"/>
              </a:rPr>
              <a:t>Restored  </a:t>
            </a:r>
            <a:r>
              <a:rPr sz="1600" b="0">
                <a:solidFill>
                  <a:srgbClr val="242424"/>
                </a:solidFill>
                <a:latin typeface="Calibri"/>
              </a:rPr>
              <a:t>66% of affected customers on average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2E7D32"/>
                </a:solidFill>
                <a:latin typeface="Calibri"/>
              </a:rPr>
              <a:t>Time  </a:t>
            </a:r>
            <a:r>
              <a:rPr sz="1600" b="0">
                <a:solidFill>
                  <a:srgbClr val="242424"/>
                </a:solidFill>
                <a:latin typeface="Calibri"/>
              </a:rPr>
              <a:t>median 75 seconds, no crew dispatched</a:t>
            </a:r>
          </a:p>
        </p:txBody>
      </p:sp>
      <p:sp>
        <p:nvSpPr>
          <p:cNvPr id="8" name="Failure 2"/>
          <p:cNvSpPr/>
          <p:nvPr/>
        </p:nvSpPr>
        <p:spPr>
          <a:xfrm>
            <a:off x="6080759" y="2103120"/>
            <a:ext cx="5623560" cy="15544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128016" bIns="73152" rtlCol="0" anchor="ctr"/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1F4E79"/>
                </a:solidFill>
                <a:latin typeface="Calibri"/>
              </a:rPr>
              <a:t>Partial pickups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2E7D32"/>
                </a:solidFill>
                <a:latin typeface="Calibri"/>
              </a:rPr>
              <a:t>Needed  </a:t>
            </a:r>
            <a:r>
              <a:rPr sz="1600" b="0">
                <a:solidFill>
                  <a:srgbClr val="242424"/>
                </a:solidFill>
                <a:latin typeface="Calibri"/>
              </a:rPr>
              <a:t>at 9 of the 187 fault locations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2E7D32"/>
                </a:solidFill>
                <a:latin typeface="Calibri"/>
              </a:rPr>
              <a:t>Effect  </a:t>
            </a:r>
            <a:r>
              <a:rPr sz="1600" b="0">
                <a:solidFill>
                  <a:srgbClr val="242424"/>
                </a:solidFill>
                <a:latin typeface="Calibri"/>
              </a:rPr>
              <a:t>a short donor still carries the most critical load</a:t>
            </a:r>
          </a:p>
        </p:txBody>
      </p:sp>
      <p:sp>
        <p:nvSpPr>
          <p:cNvPr id="9" name="Failure 3"/>
          <p:cNvSpPr/>
          <p:nvPr/>
        </p:nvSpPr>
        <p:spPr>
          <a:xfrm>
            <a:off x="320040" y="3794760"/>
            <a:ext cx="5623560" cy="15544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128016" bIns="73152" rtlCol="0" anchor="ctr"/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1F4E79"/>
                </a:solidFill>
                <a:latin typeface="Calibri"/>
              </a:rPr>
              <a:t>Live cyclone scenario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2E7D32"/>
                </a:solidFill>
                <a:latin typeface="Calibri"/>
              </a:rPr>
              <a:t>Saved  </a:t>
            </a:r>
            <a:r>
              <a:rPr sz="1600" b="0">
                <a:solidFill>
                  <a:srgbClr val="242424"/>
                </a:solidFill>
                <a:latin typeface="Calibri"/>
              </a:rPr>
              <a:t>1.22 M customer-minutes by T+01:04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2E7D32"/>
                </a:solidFill>
                <a:latin typeface="Calibri"/>
              </a:rPr>
              <a:t>Result  </a:t>
            </a:r>
            <a:r>
              <a:rPr sz="1600" b="0">
                <a:solidFill>
                  <a:srgbClr val="242424"/>
                </a:solidFill>
                <a:latin typeface="Calibri"/>
              </a:rPr>
              <a:t>54.9% below the no-automation baseline</a:t>
            </a:r>
          </a:p>
        </p:txBody>
      </p:sp>
      <p:sp>
        <p:nvSpPr>
          <p:cNvPr id="10" name="Failure 4"/>
          <p:cNvSpPr/>
          <p:nvPr/>
        </p:nvSpPr>
        <p:spPr>
          <a:xfrm>
            <a:off x="6080759" y="3794760"/>
            <a:ext cx="5623560" cy="15544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128016" bIns="73152" rtlCol="0" anchor="ctr"/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1F4E79"/>
                </a:solidFill>
                <a:latin typeface="Calibri"/>
              </a:rPr>
              <a:t>Bug caught by an invariant test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B33A12"/>
                </a:solidFill>
                <a:latin typeface="Calibri"/>
              </a:rPr>
              <a:t>Found  </a:t>
            </a:r>
            <a:r>
              <a:rPr sz="1600" b="0">
                <a:solidFill>
                  <a:srgbClr val="242424"/>
                </a:solidFill>
                <a:latin typeface="Calibri"/>
              </a:rPr>
              <a:t>a second fault stranded load an earlier one moved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2E7D32"/>
                </a:solidFill>
                <a:latin typeface="Calibri"/>
              </a:rPr>
              <a:t>Fixed  </a:t>
            </a:r>
            <a:r>
              <a:rPr sz="1600" b="0">
                <a:solidFill>
                  <a:srgbClr val="242424"/>
                </a:solidFill>
                <a:latin typeface="Calibri"/>
              </a:rPr>
              <a:t>no section may be energised and off supply at once</a:t>
            </a:r>
          </a:p>
        </p:txBody>
      </p:sp>
    </p:spTree>
    <p:extLst>
      <p:ext uri="{BB962C8B-B14F-4D97-AF65-F5344CB8AC3E}">
        <p14:creationId xmlns:p14="http://schemas.microsoft.com/office/powerpoint/2010/main" val="85023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11338560" cy="64008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All six modules run end to end, from storm forecast to restored supply.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GridRecoveryIQ</a:t>
            </a:r>
          </a:p>
        </p:txBody>
      </p:sp>
      <p:sp>
        <p:nvSpPr>
          <p:cNvPr id="7" name="Delivered"/>
          <p:cNvSpPr/>
          <p:nvPr/>
        </p:nvSpPr>
        <p:spPr>
          <a:xfrm>
            <a:off x="320040" y="210312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182880" bIns="73152" rtlCol="0" anchor="t"/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FFFFFF"/>
                </a:solidFill>
                <a:latin typeface="Calibri"/>
              </a:rPr>
              <a:t>Delivered</a:t>
            </a:r>
          </a:p>
          <a:p>
            <a:pPr marL="237744" indent="-237744" algn="l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FFFFFF"/>
                </a:solidFill>
                <a:latin typeface="Calibri"/>
              </a:rPr>
              <a:t>Risk → self-heal → dispatch on one live screen</a:t>
            </a:r>
          </a:p>
          <a:p>
            <a:pPr marL="237744" indent="-237744" algn="l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FFFFFF"/>
                </a:solidFill>
                <a:latin typeface="Calibri"/>
              </a:rPr>
              <a:t>Every number from a model or solver, never generated</a:t>
            </a:r>
          </a:p>
          <a:p>
            <a:pPr marL="237744" indent="-237744" algn="l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FFFFFF"/>
                </a:solidFill>
                <a:latin typeface="Calibri"/>
              </a:rPr>
              <a:t>Runs offline with no API key</a:t>
            </a:r>
          </a:p>
        </p:txBody>
      </p:sp>
      <p:sp>
        <p:nvSpPr>
          <p:cNvPr id="8" name="Limitations"/>
          <p:cNvSpPr/>
          <p:nvPr/>
        </p:nvSpPr>
        <p:spPr>
          <a:xfrm>
            <a:off x="4160520" y="210312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F1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182880" bIns="73152" rtlCol="0" anchor="t"/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1F4E79"/>
                </a:solidFill>
                <a:latin typeface="Calibri"/>
              </a:rPr>
              <a:t>Limitations</a:t>
            </a:r>
          </a:p>
          <a:p>
            <a:pPr marL="237744" indent="-237744" algn="l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242424"/>
                </a:solidFill>
                <a:latin typeface="Calibri"/>
              </a:rPr>
              <a:t>Synthetic network and history</a:t>
            </a:r>
          </a:p>
          <a:p>
            <a:pPr marL="237744" indent="-237744" algn="l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242424"/>
                </a:solidFill>
                <a:latin typeface="Calibri"/>
              </a:rPr>
              <a:t>kVA headroom proxy, not a full AC power flow</a:t>
            </a:r>
          </a:p>
          <a:p>
            <a:pPr marL="237744" indent="-237744" algn="l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242424"/>
                </a:solidFill>
                <a:latin typeface="Calibri"/>
              </a:rPr>
              <a:t>Each fault planned against the nominal network</a:t>
            </a:r>
          </a:p>
        </p:txBody>
      </p:sp>
      <p:sp>
        <p:nvSpPr>
          <p:cNvPr id="9" name="Next steps"/>
          <p:cNvSpPr/>
          <p:nvPr/>
        </p:nvSpPr>
        <p:spPr>
          <a:xfrm>
            <a:off x="8001000" y="210312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182880" bIns="73152" rtlCol="0" anchor="t"/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1F4E79"/>
                </a:solidFill>
                <a:latin typeface="Calibri"/>
              </a:rPr>
              <a:t>Next steps</a:t>
            </a:r>
          </a:p>
          <a:p>
            <a:pPr marL="237744" indent="-237744" algn="l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242424"/>
                </a:solidFill>
                <a:latin typeface="Calibri"/>
              </a:rPr>
              <a:t>Unbalanced load flow before each transfer</a:t>
            </a:r>
          </a:p>
          <a:p>
            <a:pPr marL="237744" indent="-237744" algn="l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242424"/>
                </a:solidFill>
                <a:latin typeface="Calibri"/>
              </a:rPr>
              <a:t>Re-plan against the live switching state</a:t>
            </a:r>
          </a:p>
          <a:p>
            <a:pPr marL="237744" indent="-237744" algn="l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242424"/>
                </a:solidFill>
                <a:latin typeface="Calibri"/>
              </a:rPr>
              <a:t>Learn repair times from work orders</a:t>
            </a:r>
          </a:p>
          <a:p>
            <a:pPr marL="237744" indent="-237744" algn="l">
              <a:spcBef>
                <a:spcPts val="1000"/>
              </a:spcBef>
              <a:buFont typeface="Arial"/>
              <a:buChar char="–"/>
            </a:pPr>
            <a:r>
              <a:rPr sz="1700" b="0">
                <a:solidFill>
                  <a:srgbClr val="242424"/>
                </a:solidFill>
                <a:latin typeface="Calibri"/>
              </a:rPr>
              <a:t>Validate on real outage data</a:t>
            </a:r>
          </a:p>
        </p:txBody>
      </p:sp>
    </p:spTree>
    <p:extLst>
      <p:ext uri="{BB962C8B-B14F-4D97-AF65-F5344CB8AC3E}">
        <p14:creationId xmlns:p14="http://schemas.microsoft.com/office/powerpoint/2010/main" val="1174567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325880"/>
            <a:ext cx="11430000" cy="4206240"/>
          </a:xfrm>
        </p:spPr>
        <p:txBody>
          <a:bodyPr wrap="square"/>
          <a:lstStyle/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[1]  G. Ke et al., “LightGBM: A Highly Efficient Gradient Boosting Decision Tree,” NeurIPS, 2017.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[2]  S. M. Lundberg et al., “From local explanations to global understanding with explainable AI for trees,” Nature Machine Intelligence, 2, pp. 56–67, 2020.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[3]  B. Zadrozny, C. Elkan, “Transforming Classifier Scores into Accurate Multiclass Probability Estimates,” Proc. ACM SIGKDD, 2002.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[4]  L. Perron, V. Furnon, “OR-Tools,” Google, 2024. developers.google.com/optimization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[5]  A. Zidan, E. F. El-Saadany, “A Cooperative Multiagent Framework for Self-Healing Mechanisms in Distribution Systems,” IEEE Trans. Smart Grid, 2012.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[6]  M. E. Baran, F. F. Wu, “Network Reconfiguration in Distribution Systems for Loss Reduction and Load Balancing,” IEEE Trans. Power Delivery, 1989.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[7]  S. D. Guikema et al., “Predicting Hurricane Power Outages to Support Storm Response Planning,” IEEE Access, 2, 2014.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[8]  IEEE Std 1366-2022, “IEEE Guide for Electric Power Distribution Reliability Indices,” 2022.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[9]  P. Toth, D. Vigo (eds.), Vehicle Routing: Problems, Methods, and Applications, 2nd ed., SIAM, 2014.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[10]  M. L. Pinedo, Scheduling: Theory, Algorithms, and Systems, 5th ed., Springer, 2016.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None/>
            </a:pPr>
            <a:r>
              <a:rPr sz="1600" b="0">
                <a:solidFill>
                  <a:srgbClr val="242424"/>
                </a:solidFill>
                <a:latin typeface="+mn-lt"/>
              </a:rPr>
              <a:t>[11]  Meta AI, “Llama 3.3 70B Instruct — Model Card,” 2024.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GridRecoveryIQ</a:t>
            </a:r>
          </a:p>
        </p:txBody>
      </p:sp>
    </p:spTree>
    <p:extLst>
      <p:ext uri="{BB962C8B-B14F-4D97-AF65-F5344CB8AC3E}">
        <p14:creationId xmlns:p14="http://schemas.microsoft.com/office/powerpoint/2010/main" val="18725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3663</Words>
  <Application>Microsoft Office PowerPoint</Application>
  <PresentationFormat>Widescreen</PresentationFormat>
  <Paragraphs>470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Rushikesh Nirmal</cp:lastModifiedBy>
  <cp:revision>16</cp:revision>
  <dcterms:created xsi:type="dcterms:W3CDTF">2024-05-13T10:33:11Z</dcterms:created>
  <dcterms:modified xsi:type="dcterms:W3CDTF">2026-10-12T21:32:08Z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