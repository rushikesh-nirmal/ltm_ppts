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8" r:id="rId4"/>
    <p:sldId id="2147470493" r:id="rId5"/>
    <p:sldId id="2147470494" r:id="rId6"/>
    <p:sldId id="2147470495" r:id="rId7"/>
    <p:sldId id="2147470496" r:id="rId8"/>
    <p:sldId id="2147470497" r:id="rId9"/>
    <p:sldId id="2147470491" r:id="rId10"/>
    <p:sldId id="214747049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96372" y="2147680"/>
            <a:ext cx="11428184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GridRecoveryIQ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- Agentic Outage Risk Prediction &amp; Restoration Optimization Platform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Rushikesh Nirmal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ID :- T9932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921033"/>
          </a:xfrm>
        </p:spPr>
        <p:txBody>
          <a:bodyPr/>
          <a:lstStyle/>
          <a:p>
            <a:pPr marL="0" indent="0">
              <a:buNone/>
            </a:pPr>
            <a:r>
              <a:rPr lang="en-US" sz="2400" b="0" dirty="0">
                <a:solidFill>
                  <a:schemeClr val="tx1"/>
                </a:solidFill>
              </a:rPr>
              <a:t>Power-grid outages can occur due to multiple interacting factors such as weather conditions, electricity demand, and the condition of grid assets.</a:t>
            </a:r>
          </a:p>
          <a:p>
            <a:pPr marL="0" indent="0">
              <a:buNone/>
            </a:pPr>
            <a:endParaRPr lang="en-US" sz="24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chemeClr val="tx1"/>
                </a:solidFill>
              </a:rPr>
              <a:t>For a utility, identifying an outage is only the beginning. The important questions are: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What caused the outage? → How critical is it? → Which constraints exist? → Which crew should be dispatched first?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b="0" dirty="0" err="1">
                <a:solidFill>
                  <a:schemeClr val="tx1"/>
                </a:solidFill>
              </a:rPr>
              <a:t>GridRecoveryIQ</a:t>
            </a:r>
            <a:r>
              <a:rPr lang="en-US" sz="2400" b="0" dirty="0">
                <a:solidFill>
                  <a:schemeClr val="tx1"/>
                </a:solidFill>
              </a:rPr>
              <a:t> is a proposed agentic AI platform designed to support outage prediction, outage assessment and optimized restoration.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</a:t>
            </a:r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GridRecoveryIQ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639D0-E0D2-A03B-84DB-1DA6C48A6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7429"/>
            <a:ext cx="10515600" cy="1325563"/>
          </a:xfrm>
        </p:spPr>
        <p:txBody>
          <a:bodyPr/>
          <a:lstStyle/>
          <a:p>
            <a:r>
              <a:rPr lang="en-IN" sz="4000" b="1" dirty="0"/>
              <a:t>Data Considered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A2736-BB77-D467-326E-8A3E7B66F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355" y="2062992"/>
            <a:ext cx="11004446" cy="4795008"/>
          </a:xfrm>
        </p:spPr>
        <p:txBody>
          <a:bodyPr/>
          <a:lstStyle/>
          <a:p>
            <a:r>
              <a:rPr lang="en-US" b="1" dirty="0"/>
              <a:t>Weather Data</a:t>
            </a:r>
            <a:br>
              <a:rPr lang="en-US" dirty="0"/>
            </a:br>
            <a:r>
              <a:rPr lang="en-US" dirty="0"/>
              <a:t>Environmental and weather conditions affecting grid operation.</a:t>
            </a:r>
          </a:p>
          <a:p>
            <a:r>
              <a:rPr lang="en-US" b="1" dirty="0"/>
              <a:t>Load Data</a:t>
            </a:r>
            <a:br>
              <a:rPr lang="en-US" dirty="0"/>
            </a:br>
            <a:r>
              <a:rPr lang="en-US" dirty="0"/>
              <a:t>Electricity demand and feeder load patterns.</a:t>
            </a:r>
          </a:p>
          <a:p>
            <a:r>
              <a:rPr lang="en-US" b="1" dirty="0"/>
              <a:t>Asset Data</a:t>
            </a:r>
            <a:br>
              <a:rPr lang="en-US" dirty="0"/>
            </a:br>
            <a:r>
              <a:rPr lang="en-US" dirty="0"/>
              <a:t>Feeder and substation information.</a:t>
            </a:r>
          </a:p>
          <a:p>
            <a:r>
              <a:rPr lang="en-US" b="1" dirty="0"/>
              <a:t>Outage Events</a:t>
            </a:r>
            <a:br>
              <a:rPr lang="en-US" dirty="0"/>
            </a:br>
            <a:r>
              <a:rPr lang="en-US" dirty="0"/>
              <a:t>Historical outage events and restoration scenarios.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6097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6627" y="1148876"/>
            <a:ext cx="10624338" cy="4142989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To develop an agentic AI platform that predicts outage risk, assesses outage cause and criticality, and generates an optimized crew-dispatch and restoration plan.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3200" b="0" dirty="0">
                <a:solidFill>
                  <a:schemeClr val="tx1"/>
                </a:solidFill>
              </a:rPr>
              <a:t>Key Objectives :-</a:t>
            </a:r>
          </a:p>
          <a:p>
            <a:pPr marL="0" indent="0">
              <a:buNone/>
            </a:pPr>
            <a:r>
              <a:rPr lang="en-US" sz="2400" b="0" dirty="0">
                <a:solidFill>
                  <a:schemeClr val="tx1"/>
                </a:solidFill>
              </a:rPr>
              <a:t>1. Outage Risk Prediction</a:t>
            </a:r>
          </a:p>
          <a:p>
            <a:pPr marL="0" indent="0">
              <a:buNone/>
            </a:pPr>
            <a:r>
              <a:rPr lang="en-US" sz="2400" b="0" dirty="0">
                <a:solidFill>
                  <a:schemeClr val="tx1"/>
                </a:solidFill>
              </a:rPr>
              <a:t>2. Outage Assessment</a:t>
            </a:r>
          </a:p>
          <a:p>
            <a:pPr marL="0" indent="0">
              <a:buNone/>
            </a:pPr>
            <a:r>
              <a:rPr lang="en-US" sz="2400" b="0" dirty="0">
                <a:solidFill>
                  <a:schemeClr val="tx1"/>
                </a:solidFill>
              </a:rPr>
              <a:t>3. Criticality Assessment</a:t>
            </a:r>
          </a:p>
          <a:p>
            <a:pPr marL="0" indent="0">
              <a:buNone/>
            </a:pPr>
            <a:r>
              <a:rPr lang="en-US" sz="2400" b="0" dirty="0">
                <a:solidFill>
                  <a:schemeClr val="tx1"/>
                </a:solidFill>
              </a:rPr>
              <a:t>4. Agentic Decision Support.</a:t>
            </a:r>
          </a:p>
          <a:p>
            <a:pPr marL="0" indent="0">
              <a:buNone/>
            </a:pPr>
            <a:r>
              <a:rPr lang="en-US" sz="2400" b="0" dirty="0">
                <a:solidFill>
                  <a:schemeClr val="tx1"/>
                </a:solidFill>
              </a:rPr>
              <a:t>5. Crew Dispatch Optimization</a:t>
            </a:r>
          </a:p>
          <a:p>
            <a:pPr marL="0" indent="0">
              <a:buNone/>
            </a:pPr>
            <a:r>
              <a:rPr lang="en-US" sz="2400" b="0" dirty="0">
                <a:solidFill>
                  <a:schemeClr val="tx1"/>
                </a:solidFill>
              </a:rPr>
              <a:t>6. Restoration Optimization</a:t>
            </a:r>
            <a:br>
              <a:rPr lang="en-US" sz="2400" b="0" dirty="0">
                <a:solidFill>
                  <a:schemeClr val="tx1"/>
                </a:solidFill>
              </a:rPr>
            </a:b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</a:t>
            </a:r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GridRecoveryIQ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</a:t>
            </a:r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GridRecoveryIQ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sp>
        <p:nvSpPr>
          <p:cNvPr id="8" name="AutoShape 6" descr="GridRecoveryIQ End-to-End Flow">
            <a:extLst>
              <a:ext uri="{FF2B5EF4-FFF2-40B4-BE49-F238E27FC236}">
                <a16:creationId xmlns:a16="http://schemas.microsoft.com/office/drawing/2014/main" id="{47AB5959-4746-508F-C366-38DB0D10F06C}"/>
              </a:ext>
            </a:extLst>
          </p:cNvPr>
          <p:cNvSpPr>
            <a:spLocks noGrp="1" noChangeAspect="1" noChangeArrowheads="1"/>
          </p:cNvSpPr>
          <p:nvPr>
            <p:ph type="body" sz="quarter" idx="13"/>
          </p:nvPr>
        </p:nvSpPr>
        <p:spPr bwMode="auto">
          <a:xfrm>
            <a:off x="255588" y="1271588"/>
            <a:ext cx="10625137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643839-DCCB-3F5F-1C9E-A4803E917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8876"/>
            <a:ext cx="12192000" cy="406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b="0" dirty="0">
                <a:solidFill>
                  <a:schemeClr val="tx1"/>
                </a:solidFill>
              </a:rPr>
              <a:t>Sharma et al. (2024) — Machine Learning for Power Outage Prediction During Hurricanes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b="0" dirty="0">
                <a:solidFill>
                  <a:schemeClr val="tx1"/>
                </a:solidFill>
              </a:rPr>
              <a:t>2. Predicting Power Outage During Extreme Weather Events with EAGLE-I and NWS Datasets (IEEE, 2023)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N" sz="2400" b="0" dirty="0">
                <a:solidFill>
                  <a:schemeClr val="tx1"/>
                </a:solidFill>
              </a:rPr>
              <a:t>3. Zhang et al. (2023) — Outage Management of Hybrid AC/DC Distribution Systems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b="0" dirty="0">
                <a:solidFill>
                  <a:schemeClr val="tx1"/>
                </a:solidFill>
              </a:rPr>
              <a:t>4. Wu et al. (2022) — Robust Coordination of Repair and Dispatch Resources for Post-Disaster Service Restoration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</a:t>
            </a:r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GridRecoveryIQ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94385"/>
            <a:ext cx="10624338" cy="4946701"/>
          </a:xfrm>
        </p:spPr>
        <p:txBody>
          <a:bodyPr/>
          <a:lstStyle/>
          <a:p>
            <a:r>
              <a:rPr lang="en-US" sz="2400" b="0" dirty="0">
                <a:solidFill>
                  <a:schemeClr val="tx1"/>
                </a:solidFill>
              </a:rPr>
              <a:t>ML can predict power outages using weather and historical outage data. </a:t>
            </a:r>
          </a:p>
          <a:p>
            <a:r>
              <a:rPr lang="en-US" sz="2400" b="0" dirty="0">
                <a:solidFill>
                  <a:schemeClr val="tx1"/>
                </a:solidFill>
              </a:rPr>
              <a:t>Weather conditions are key factors in outage-risk prediction. </a:t>
            </a:r>
          </a:p>
          <a:p>
            <a:r>
              <a:rPr lang="en-US" sz="2400" b="0" dirty="0">
                <a:solidFill>
                  <a:schemeClr val="tx1"/>
                </a:solidFill>
              </a:rPr>
              <a:t>Research supports AI-based outage assessment and identification of affected grid areas. </a:t>
            </a:r>
          </a:p>
          <a:p>
            <a:r>
              <a:rPr lang="en-US" sz="2400" b="0" dirty="0">
                <a:solidFill>
                  <a:schemeClr val="tx1"/>
                </a:solidFill>
              </a:rPr>
              <a:t>Optimization methods can improve crew allocation and repair sequencing. </a:t>
            </a:r>
          </a:p>
          <a:p>
            <a:r>
              <a:rPr lang="en-US" sz="2400" b="0" dirty="0">
                <a:solidFill>
                  <a:schemeClr val="tx1"/>
                </a:solidFill>
              </a:rPr>
              <a:t>Existing studies often treat prediction and restoration separately. </a:t>
            </a:r>
          </a:p>
          <a:p>
            <a:r>
              <a:rPr lang="en-US" sz="2400" b="0" dirty="0" err="1">
                <a:solidFill>
                  <a:schemeClr val="tx1"/>
                </a:solidFill>
              </a:rPr>
              <a:t>GridRecoveryIQ</a:t>
            </a:r>
            <a:r>
              <a:rPr lang="en-US" sz="2400" b="0" dirty="0">
                <a:solidFill>
                  <a:schemeClr val="tx1"/>
                </a:solidFill>
              </a:rPr>
              <a:t> integrates prediction, assessment, optimization and restoration into one workflow.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</a:t>
            </a:r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GridRecoveryIQ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/>
              <a:t>Proposed System Architecture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</a:t>
            </a:r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GridRecoveryIQ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A2962A-FD5A-0A67-20A1-8FE225C29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6999"/>
            <a:ext cx="12192000" cy="468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7505"/>
            <a:ext cx="10624338" cy="4142989"/>
          </a:xfrm>
        </p:spPr>
        <p:txBody>
          <a:bodyPr/>
          <a:lstStyle/>
          <a:p>
            <a:r>
              <a:rPr lang="en-US" b="0" dirty="0">
                <a:solidFill>
                  <a:schemeClr val="tx1"/>
                </a:solidFill>
              </a:rPr>
              <a:t>Module 1 — Grid Data Acquisition &amp; Preparation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chemeClr val="tx1"/>
                </a:solidFill>
              </a:rPr>
              <a:t>Collection and preparation of weather, load, asset and outage-event data.</a:t>
            </a:r>
          </a:p>
          <a:p>
            <a:pPr marL="457200" lvl="1" indent="0">
              <a:buNone/>
            </a:pPr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Module 2 — Outage Risk Prediction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chemeClr val="tx1"/>
                </a:solidFill>
              </a:rPr>
              <a:t>Development of an AI/ML model to estimate outage probability or risk.</a:t>
            </a:r>
          </a:p>
          <a:p>
            <a:pPr marL="457200" lvl="1" indent="0">
              <a:buNone/>
            </a:pPr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Module 3 — Outage Trigger &amp; Scenario Simulation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chemeClr val="tx1"/>
                </a:solidFill>
              </a:rPr>
              <a:t>Generation or detection of outage scenarios to initiate the recovery workflow.</a:t>
            </a:r>
          </a:p>
          <a:p>
            <a:pPr marL="457200" lvl="1" indent="0">
              <a:buNone/>
            </a:pPr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Module 4 — Agentic Outage Assessment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chemeClr val="tx1"/>
                </a:solidFill>
              </a:rPr>
              <a:t>Multi-agent analysis of outage cause, criticality and operational conditions.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</a:t>
            </a:r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GridRecoveryIQ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7D97D1-F2BA-948E-A239-FC21745CC4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54099"/>
            <a:ext cx="10624338" cy="444565"/>
          </a:xfrm>
        </p:spPr>
        <p:txBody>
          <a:bodyPr/>
          <a:lstStyle/>
          <a:p>
            <a:r>
              <a:rPr lang="en-US" b="0" dirty="0">
                <a:solidFill>
                  <a:schemeClr val="tx1"/>
                </a:solidFill>
              </a:rPr>
              <a:t>Module 5 — Crew Dispatch Optimization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chemeClr val="tx1"/>
                </a:solidFill>
              </a:rPr>
              <a:t>Optimization of crew allocation and dispatch priorities using OR-Tools.</a:t>
            </a:r>
          </a:p>
          <a:p>
            <a:pPr marL="457200" lvl="1" indent="0">
              <a:buNone/>
            </a:pPr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Module 6 — Restoration Sequencing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chemeClr val="tx1"/>
                </a:solidFill>
              </a:rPr>
              <a:t>Generation of an optimized sequence for restoring affected grid components.</a:t>
            </a:r>
          </a:p>
          <a:p>
            <a:pPr marL="457200" lvl="1" indent="0">
              <a:buNone/>
            </a:pPr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Module 7 — Interactive Grid Dashboard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chemeClr val="tx1"/>
                </a:solidFill>
              </a:rPr>
              <a:t>Visualization of grid status, outage locations, criticality, crew assignments and restoration progress.</a:t>
            </a:r>
          </a:p>
          <a:p>
            <a:endParaRPr lang="en-IN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48840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542</Words>
  <Application>Microsoft Office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Data Considered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Rushikesh</dc:creator>
  <cp:lastModifiedBy>Rushikesh Nirmal</cp:lastModifiedBy>
  <cp:revision>12</cp:revision>
  <dcterms:created xsi:type="dcterms:W3CDTF">2024-05-13T10:33:11Z</dcterms:created>
  <dcterms:modified xsi:type="dcterms:W3CDTF">2026-10-06T04:30:21Z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